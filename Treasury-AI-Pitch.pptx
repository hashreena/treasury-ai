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898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2103120"/>
            <a:ext cx="6400800" cy="6400800"/>
          </a:xfrm>
          <a:prstGeom prst="ellipse">
            <a:avLst/>
          </a:prstGeom>
          <a:solidFill>
            <a:srgbClr val="3D7EFF">
              <a:alpha val="14000"/>
            </a:srgbClr>
          </a:solidFill>
          <a:ln w="12700">
            <a:solidFill>
              <a:srgbClr val="070B1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9144000" y="3291840"/>
            <a:ext cx="4572000" cy="4572000"/>
          </a:xfrm>
          <a:prstGeom prst="ellipse">
            <a:avLst/>
          </a:prstGeom>
          <a:solidFill>
            <a:srgbClr val="4FD0E0">
              <a:alpha val="10000"/>
            </a:srgbClr>
          </a:solidFill>
          <a:ln w="12700">
            <a:solidFill>
              <a:srgbClr val="070B1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841248" y="777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D7EFF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841248" y="777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3F6FC"/>
                </a:solidFill>
              </a:rPr>
              <a:t>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777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6384" y="214884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0" b="1" dirty="0">
                <a:solidFill>
                  <a:srgbClr val="F3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Treasury AI</a:t>
            </a:r>
            <a:endParaRPr lang="en-US" sz="7600" dirty="0"/>
          </a:p>
        </p:txBody>
      </p:sp>
      <p:sp>
        <p:nvSpPr>
          <p:cNvPr id="8" name="Text 6"/>
          <p:cNvSpPr/>
          <p:nvPr/>
        </p:nvSpPr>
        <p:spPr>
          <a:xfrm>
            <a:off x="841248" y="37033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5B9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Reconciliation that explains itself.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41248" y="45720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treasury analyst for small and mid-sized businesses — it reads documents, matches payments across currencies, catches fraud, and explains every discrepancy.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1248" y="5897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INSIDE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B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SMEs reconcile money by hand — and it costs them.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41248" y="196596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841248" y="1965960"/>
            <a:ext cx="64008" cy="1600200"/>
          </a:xfrm>
          <a:prstGeom prst="rect">
            <a:avLst/>
          </a:prstGeom>
          <a:solidFill>
            <a:srgbClr val="E85563"/>
          </a:solidFill>
          <a:ln w="12700">
            <a:solidFill>
              <a:srgbClr val="E8556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1115568" y="21671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chaos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2569464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arrive in different currencies; FX spreads and bank fees distort every amount.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45936" y="196596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6345936" y="1965960"/>
            <a:ext cx="64008" cy="1600200"/>
          </a:xfrm>
          <a:prstGeom prst="rect">
            <a:avLst/>
          </a:prstGeom>
          <a:solidFill>
            <a:srgbClr val="E5823C"/>
          </a:solidFill>
          <a:ln w="12700">
            <a:solidFill>
              <a:srgbClr val="E5823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6620256" y="21671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reconciliation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20256" y="2569464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each week spent eyeballing spreadsheets against bank statements.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41248" y="3858768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Shape 11"/>
          <p:cNvSpPr/>
          <p:nvPr/>
        </p:nvSpPr>
        <p:spPr>
          <a:xfrm>
            <a:off x="841248" y="3858768"/>
            <a:ext cx="64008" cy="1600200"/>
          </a:xfrm>
          <a:prstGeom prst="rect">
            <a:avLst/>
          </a:prstGeom>
          <a:solidFill>
            <a:srgbClr val="E0A93A"/>
          </a:solidFill>
          <a:ln w="12700">
            <a:solidFill>
              <a:srgbClr val="E0A93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1115568" y="405993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mismatches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15568" y="4462272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references and partial payments turn matching into guesswork.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45936" y="3858768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Shape 15"/>
          <p:cNvSpPr/>
          <p:nvPr/>
        </p:nvSpPr>
        <p:spPr>
          <a:xfrm>
            <a:off x="6345936" y="3858768"/>
            <a:ext cx="64008" cy="1600200"/>
          </a:xfrm>
          <a:prstGeom prst="rect">
            <a:avLst/>
          </a:prstGeom>
          <a:solidFill>
            <a:srgbClr val="E85563"/>
          </a:solidFill>
          <a:ln w="12700">
            <a:solidFill>
              <a:srgbClr val="E8556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6620256" y="405993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slips through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20256" y="4462272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invoices and unknown-vendor payments go unnoticed until it is too late.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1248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hour spent reconciling is an hour not spent running the business.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B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autonomous treasury analyst.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1248" y="1554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checking spreadsheets by hand, your team gets an AI agent that runs the whole reconciliation cycle — and shows its work.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41248" y="2468880"/>
            <a:ext cx="1993392" cy="1691640"/>
          </a:xfrm>
          <a:prstGeom prst="roundRect">
            <a:avLst>
              <a:gd name="adj" fmla="val 4324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1097280" y="2724912"/>
            <a:ext cx="457200" cy="457200"/>
          </a:xfrm>
          <a:prstGeom prst="ellipse">
            <a:avLst/>
          </a:prstGeom>
          <a:solidFill>
            <a:srgbClr val="3D7EFF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109728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0704" y="331012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financial documents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798064" y="2468880"/>
            <a:ext cx="2377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A7795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999232" y="2468880"/>
            <a:ext cx="1993392" cy="1691640"/>
          </a:xfrm>
          <a:prstGeom prst="roundRect">
            <a:avLst>
              <a:gd name="adj" fmla="val 4324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Shape 9"/>
          <p:cNvSpPr/>
          <p:nvPr/>
        </p:nvSpPr>
        <p:spPr>
          <a:xfrm>
            <a:off x="3255264" y="2724912"/>
            <a:ext cx="457200" cy="457200"/>
          </a:xfrm>
          <a:prstGeom prst="ellipse">
            <a:avLst/>
          </a:prstGeom>
          <a:solidFill>
            <a:srgbClr val="3D7EFF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3255264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18688" y="331012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payments across currencies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56048" y="2468880"/>
            <a:ext cx="2377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A7795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157216" y="2468880"/>
            <a:ext cx="1993392" cy="1691640"/>
          </a:xfrm>
          <a:prstGeom prst="roundRect">
            <a:avLst>
              <a:gd name="adj" fmla="val 4324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Shape 14"/>
          <p:cNvSpPr/>
          <p:nvPr/>
        </p:nvSpPr>
        <p:spPr>
          <a:xfrm>
            <a:off x="5413248" y="2724912"/>
            <a:ext cx="457200" cy="457200"/>
          </a:xfrm>
          <a:prstGeom prst="ellipse">
            <a:avLst/>
          </a:prstGeom>
          <a:solidFill>
            <a:srgbClr val="3D7EFF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5413248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76672" y="331012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fraud &amp; anomalies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114032" y="2468880"/>
            <a:ext cx="2377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A7795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0" y="2468880"/>
            <a:ext cx="1993392" cy="1691640"/>
          </a:xfrm>
          <a:prstGeom prst="roundRect">
            <a:avLst>
              <a:gd name="adj" fmla="val 4324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Shape 19"/>
          <p:cNvSpPr/>
          <p:nvPr/>
        </p:nvSpPr>
        <p:spPr>
          <a:xfrm>
            <a:off x="7571232" y="2724912"/>
            <a:ext cx="457200" cy="457200"/>
          </a:xfrm>
          <a:prstGeom prst="ellipse">
            <a:avLst/>
          </a:prstGeom>
          <a:solidFill>
            <a:srgbClr val="3D7EFF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7571232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534656" y="331012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every discrepancy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272016" y="2468880"/>
            <a:ext cx="2377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A7795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473184" y="2468880"/>
            <a:ext cx="1993392" cy="1691640"/>
          </a:xfrm>
          <a:prstGeom prst="roundRect">
            <a:avLst>
              <a:gd name="adj" fmla="val 4324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Shape 24"/>
          <p:cNvSpPr/>
          <p:nvPr/>
        </p:nvSpPr>
        <p:spPr>
          <a:xfrm>
            <a:off x="9729216" y="2724912"/>
            <a:ext cx="457200" cy="457200"/>
          </a:xfrm>
          <a:prstGeom prst="ellipse">
            <a:avLst/>
          </a:prstGeom>
          <a:solidFill>
            <a:srgbClr val="3D7EFF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" name="Text 25"/>
          <p:cNvSpPr/>
          <p:nvPr/>
        </p:nvSpPr>
        <p:spPr>
          <a:xfrm>
            <a:off x="9729216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92640" y="331012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audit-ready reports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41248" y="4526280"/>
            <a:ext cx="10479024" cy="1371600"/>
          </a:xfrm>
          <a:prstGeom prst="roundRect">
            <a:avLst>
              <a:gd name="adj" fmla="val 5333"/>
            </a:avLst>
          </a:prstGeom>
          <a:solidFill>
            <a:srgbClr val="16223C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Text 28"/>
          <p:cNvSpPr/>
          <p:nvPr/>
        </p:nvSpPr>
        <p:spPr>
          <a:xfrm>
            <a:off x="11430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F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43000" y="50292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matching is deterministic, auditable code. </a:t>
            </a:r>
            <a:r>
              <a:rPr lang="en-US" sz="150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only explains and advises — it never decides the numbers. An analyst, not a calculator.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B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capabilities, one pipeline.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41248" y="1874520"/>
            <a:ext cx="3419856" cy="1371600"/>
          </a:xfrm>
          <a:prstGeom prst="roundRect">
            <a:avLst>
              <a:gd name="adj" fmla="val 5333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1078992" y="211226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5B95FF">
              <a:alpha val="22000"/>
            </a:srgbClr>
          </a:solidFill>
          <a:ln w="12700">
            <a:solidFill>
              <a:srgbClr val="5B95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1170432" y="2203704"/>
            <a:ext cx="128016" cy="128016"/>
          </a:xfrm>
          <a:prstGeom prst="ellipse">
            <a:avLst/>
          </a:prstGeom>
          <a:solidFill>
            <a:srgbClr val="5B95FF"/>
          </a:solidFill>
          <a:ln w="12700">
            <a:solidFill>
              <a:srgbClr val="5B95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1517904" y="2075688"/>
            <a:ext cx="2551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Document Upload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78992" y="2532888"/>
            <a:ext cx="2962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and bank statements as CSV, Excel or digital PDF.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70832" y="1874520"/>
            <a:ext cx="3419856" cy="1371600"/>
          </a:xfrm>
          <a:prstGeom prst="roundRect">
            <a:avLst>
              <a:gd name="adj" fmla="val 5333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Shape 8"/>
          <p:cNvSpPr/>
          <p:nvPr/>
        </p:nvSpPr>
        <p:spPr>
          <a:xfrm>
            <a:off x="4608576" y="211226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5B95FF">
              <a:alpha val="22000"/>
            </a:srgbClr>
          </a:solidFill>
          <a:ln w="12700">
            <a:solidFill>
              <a:srgbClr val="5B95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Shape 9"/>
          <p:cNvSpPr/>
          <p:nvPr/>
        </p:nvSpPr>
        <p:spPr>
          <a:xfrm>
            <a:off x="4700016" y="2203704"/>
            <a:ext cx="128016" cy="128016"/>
          </a:xfrm>
          <a:prstGeom prst="ellipse">
            <a:avLst/>
          </a:prstGeom>
          <a:solidFill>
            <a:srgbClr val="5B95FF"/>
          </a:solidFill>
          <a:ln w="12700">
            <a:solidFill>
              <a:srgbClr val="5B95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5047488" y="2075688"/>
            <a:ext cx="2551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 Extraction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08576" y="2532888"/>
            <a:ext cx="2962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invoice no., amount, currency, vendor, reference, date.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00416" y="1874520"/>
            <a:ext cx="3419856" cy="1371600"/>
          </a:xfrm>
          <a:prstGeom prst="roundRect">
            <a:avLst>
              <a:gd name="adj" fmla="val 5333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Shape 13"/>
          <p:cNvSpPr/>
          <p:nvPr/>
        </p:nvSpPr>
        <p:spPr>
          <a:xfrm>
            <a:off x="8138160" y="211226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5C98A">
              <a:alpha val="22000"/>
            </a:srgbClr>
          </a:solidFill>
          <a:ln w="12700">
            <a:solidFill>
              <a:srgbClr val="35C9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Shape 14"/>
          <p:cNvSpPr/>
          <p:nvPr/>
        </p:nvSpPr>
        <p:spPr>
          <a:xfrm>
            <a:off x="8229600" y="2203704"/>
            <a:ext cx="128016" cy="128016"/>
          </a:xfrm>
          <a:prstGeom prst="ellipse">
            <a:avLst/>
          </a:prstGeom>
          <a:solidFill>
            <a:srgbClr val="35C98A"/>
          </a:solidFill>
          <a:ln w="12700">
            <a:solidFill>
              <a:srgbClr val="35C9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8577072" y="2075688"/>
            <a:ext cx="2551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Engine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138160" y="2532888"/>
            <a:ext cx="2962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matched, partial, suspicious and unmatched.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41248" y="3355848"/>
            <a:ext cx="3419856" cy="1371600"/>
          </a:xfrm>
          <a:prstGeom prst="roundRect">
            <a:avLst>
              <a:gd name="adj" fmla="val 5333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Shape 18"/>
          <p:cNvSpPr/>
          <p:nvPr/>
        </p:nvSpPr>
        <p:spPr>
          <a:xfrm>
            <a:off x="1078992" y="35935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4FD0E0">
              <a:alpha val="22000"/>
            </a:srgbClr>
          </a:solidFill>
          <a:ln w="12700">
            <a:solidFill>
              <a:srgbClr val="4FD0E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Shape 19"/>
          <p:cNvSpPr/>
          <p:nvPr/>
        </p:nvSpPr>
        <p:spPr>
          <a:xfrm>
            <a:off x="1170432" y="3685032"/>
            <a:ext cx="128016" cy="128016"/>
          </a:xfrm>
          <a:prstGeom prst="ellipse">
            <a:avLst/>
          </a:prstGeom>
          <a:solidFill>
            <a:srgbClr val="4FD0E0"/>
          </a:solidFill>
          <a:ln w="12700">
            <a:solidFill>
              <a:srgbClr val="4FD0E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1517904" y="3557016"/>
            <a:ext cx="2551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Reasoning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78992" y="4014216"/>
            <a:ext cx="2962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explanation of every mismatch and decision.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70832" y="3355848"/>
            <a:ext cx="3419856" cy="1371600"/>
          </a:xfrm>
          <a:prstGeom prst="roundRect">
            <a:avLst>
              <a:gd name="adj" fmla="val 5333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Shape 23"/>
          <p:cNvSpPr/>
          <p:nvPr/>
        </p:nvSpPr>
        <p:spPr>
          <a:xfrm>
            <a:off x="4608576" y="35935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5823C">
              <a:alpha val="22000"/>
            </a:srgbClr>
          </a:solidFill>
          <a:ln w="12700">
            <a:solidFill>
              <a:srgbClr val="E5823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Shape 24"/>
          <p:cNvSpPr/>
          <p:nvPr/>
        </p:nvSpPr>
        <p:spPr>
          <a:xfrm>
            <a:off x="4700016" y="3685032"/>
            <a:ext cx="128016" cy="128016"/>
          </a:xfrm>
          <a:prstGeom prst="ellipse">
            <a:avLst/>
          </a:prstGeom>
          <a:solidFill>
            <a:srgbClr val="E5823C"/>
          </a:solidFill>
          <a:ln w="12700">
            <a:solidFill>
              <a:srgbClr val="E5823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" name="Text 25"/>
          <p:cNvSpPr/>
          <p:nvPr/>
        </p:nvSpPr>
        <p:spPr>
          <a:xfrm>
            <a:off x="5047488" y="3557016"/>
            <a:ext cx="2551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&amp; Risk Detection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608576" y="4014216"/>
            <a:ext cx="2962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duplicates, abnormal amounts, unknown vendors, patterns.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900416" y="3355848"/>
            <a:ext cx="3419856" cy="1371600"/>
          </a:xfrm>
          <a:prstGeom prst="roundRect">
            <a:avLst>
              <a:gd name="adj" fmla="val 5333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Shape 28"/>
          <p:cNvSpPr/>
          <p:nvPr/>
        </p:nvSpPr>
        <p:spPr>
          <a:xfrm>
            <a:off x="8138160" y="35935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5B95FF">
              <a:alpha val="22000"/>
            </a:srgbClr>
          </a:solidFill>
          <a:ln w="12700">
            <a:solidFill>
              <a:srgbClr val="5B95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" name="Shape 29"/>
          <p:cNvSpPr/>
          <p:nvPr/>
        </p:nvSpPr>
        <p:spPr>
          <a:xfrm>
            <a:off x="8229600" y="3685032"/>
            <a:ext cx="128016" cy="128016"/>
          </a:xfrm>
          <a:prstGeom prst="ellipse">
            <a:avLst/>
          </a:prstGeom>
          <a:solidFill>
            <a:srgbClr val="5B95FF"/>
          </a:solidFill>
          <a:ln w="12700">
            <a:solidFill>
              <a:srgbClr val="5B95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Text 30"/>
          <p:cNvSpPr/>
          <p:nvPr/>
        </p:nvSpPr>
        <p:spPr>
          <a:xfrm>
            <a:off x="8577072" y="3557016"/>
            <a:ext cx="2551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138160" y="4014216"/>
            <a:ext cx="2962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confidence scores, fraud alerts and analytics charts.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41248" y="4882896"/>
            <a:ext cx="10479024" cy="960120"/>
          </a:xfrm>
          <a:prstGeom prst="roundRect">
            <a:avLst>
              <a:gd name="adj" fmla="val 7619"/>
            </a:avLst>
          </a:prstGeom>
          <a:solidFill>
            <a:srgbClr val="16223C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5" name="Shape 33"/>
          <p:cNvSpPr/>
          <p:nvPr/>
        </p:nvSpPr>
        <p:spPr>
          <a:xfrm>
            <a:off x="1097280" y="5138928"/>
            <a:ext cx="457200" cy="457200"/>
          </a:xfrm>
          <a:prstGeom prst="ellipse">
            <a:avLst/>
          </a:prstGeom>
          <a:solidFill>
            <a:srgbClr val="35C98A"/>
          </a:solidFill>
          <a:ln w="12700">
            <a:solidFill>
              <a:srgbClr val="35C9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" name="Text 34"/>
          <p:cNvSpPr/>
          <p:nvPr/>
        </p:nvSpPr>
        <p:spPr>
          <a:xfrm>
            <a:off x="1097280" y="5138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0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783080" y="4882896"/>
            <a:ext cx="9326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Audit Report Generation   </a:t>
            </a:r>
            <a:r>
              <a:rPr lang="en-US" sz="130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produces a professional PDF — executive summary, anomaly log and full audit trail.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B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guided analysis workflow.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1248" y="1554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AI is built as a clear step-by-step process — no training needed.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41248" y="2331720"/>
            <a:ext cx="1993392" cy="2286000"/>
          </a:xfrm>
          <a:prstGeom prst="roundRect">
            <a:avLst>
              <a:gd name="adj" fmla="val 3670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841248" y="2331720"/>
            <a:ext cx="1993392" cy="64008"/>
          </a:xfrm>
          <a:prstGeom prst="rect">
            <a:avLst/>
          </a:prstGeom>
          <a:solidFill>
            <a:srgbClr val="5B95FF"/>
          </a:solidFill>
          <a:ln w="12700">
            <a:solidFill>
              <a:srgbClr val="5B95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1078992" y="2569464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289864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78992" y="3383280"/>
            <a:ext cx="1536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workspace and begin a new analysis.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999232" y="2331720"/>
            <a:ext cx="1993392" cy="2286000"/>
          </a:xfrm>
          <a:prstGeom prst="roundRect">
            <a:avLst>
              <a:gd name="adj" fmla="val 3670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Shape 9"/>
          <p:cNvSpPr/>
          <p:nvPr/>
        </p:nvSpPr>
        <p:spPr>
          <a:xfrm>
            <a:off x="2999232" y="2331720"/>
            <a:ext cx="1993392" cy="64008"/>
          </a:xfrm>
          <a:prstGeom prst="rect">
            <a:avLst/>
          </a:prstGeom>
          <a:solidFill>
            <a:srgbClr val="5B95FF"/>
          </a:solidFill>
          <a:ln w="12700">
            <a:solidFill>
              <a:srgbClr val="5B95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3236976" y="2569464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36976" y="289864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36976" y="3383280"/>
            <a:ext cx="1536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an invoices file and a bank statement.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157216" y="2331720"/>
            <a:ext cx="1993392" cy="2286000"/>
          </a:xfrm>
          <a:prstGeom prst="roundRect">
            <a:avLst>
              <a:gd name="adj" fmla="val 3670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Shape 14"/>
          <p:cNvSpPr/>
          <p:nvPr/>
        </p:nvSpPr>
        <p:spPr>
          <a:xfrm>
            <a:off x="5157216" y="2331720"/>
            <a:ext cx="1993392" cy="64008"/>
          </a:xfrm>
          <a:prstGeom prst="rect">
            <a:avLst/>
          </a:prstGeom>
          <a:solidFill>
            <a:srgbClr val="4FD0E0"/>
          </a:solidFill>
          <a:ln w="12700">
            <a:solidFill>
              <a:srgbClr val="4FD0E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5394960" y="2569464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94960" y="289864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94960" y="3383280"/>
            <a:ext cx="1536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reconciles and scans for risk instantly.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15200" y="2331720"/>
            <a:ext cx="1993392" cy="2286000"/>
          </a:xfrm>
          <a:prstGeom prst="roundRect">
            <a:avLst>
              <a:gd name="adj" fmla="val 3670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Shape 19"/>
          <p:cNvSpPr/>
          <p:nvPr/>
        </p:nvSpPr>
        <p:spPr>
          <a:xfrm>
            <a:off x="7315200" y="2331720"/>
            <a:ext cx="1993392" cy="64008"/>
          </a:xfrm>
          <a:prstGeom prst="rect">
            <a:avLst/>
          </a:prstGeom>
          <a:solidFill>
            <a:srgbClr val="35C98A"/>
          </a:solidFill>
          <a:ln w="12700">
            <a:solidFill>
              <a:srgbClr val="35C9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7552944" y="2569464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52944" y="289864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552944" y="3383280"/>
            <a:ext cx="1536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Overview, reconciliation, risk and audit — all in tabs.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473184" y="2331720"/>
            <a:ext cx="1993392" cy="2286000"/>
          </a:xfrm>
          <a:prstGeom prst="roundRect">
            <a:avLst>
              <a:gd name="adj" fmla="val 3670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Shape 24"/>
          <p:cNvSpPr/>
          <p:nvPr/>
        </p:nvSpPr>
        <p:spPr>
          <a:xfrm>
            <a:off x="9473184" y="2331720"/>
            <a:ext cx="1993392" cy="64008"/>
          </a:xfrm>
          <a:prstGeom prst="rect">
            <a:avLst/>
          </a:prstGeom>
          <a:solidFill>
            <a:srgbClr val="5B95FF"/>
          </a:solidFill>
          <a:ln w="12700">
            <a:solidFill>
              <a:srgbClr val="5B95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" name="Text 25"/>
          <p:cNvSpPr/>
          <p:nvPr/>
        </p:nvSpPr>
        <p:spPr>
          <a:xfrm>
            <a:off x="9710928" y="2569464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710928" y="289864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History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710928" y="3383280"/>
            <a:ext cx="1536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scan is saved and can be reopened any time.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41248" y="4983480"/>
            <a:ext cx="10479024" cy="868680"/>
          </a:xfrm>
          <a:prstGeom prst="roundRect">
            <a:avLst>
              <a:gd name="adj" fmla="val 8421"/>
            </a:avLst>
          </a:prstGeom>
          <a:solidFill>
            <a:srgbClr val="16223C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" name="Text 29"/>
          <p:cNvSpPr/>
          <p:nvPr/>
        </p:nvSpPr>
        <p:spPr>
          <a:xfrm>
            <a:off x="1143000" y="498348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4F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scope:  </a:t>
            </a:r>
            <a:r>
              <a:rPr lang="en-US" sz="125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history is session-based today; user accounts and persistent storage are the next milestone on the roadmap.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B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AI works — powered by Chutes AI.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1248" y="153619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AI uses a large language model served by Chutes AI. Crucially, the AI never touches the math — it interprets results the engine has already computed.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41248" y="2286000"/>
            <a:ext cx="5166360" cy="2286000"/>
          </a:xfrm>
          <a:prstGeom prst="roundRect">
            <a:avLst>
              <a:gd name="adj" fmla="val 3200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1097280" y="2487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5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AI DOES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285292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28529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why a transaction was flagged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325526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17320" y="325526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step-by-step reasoning chain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365760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36576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Assesses risk and recommends an action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4059936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40599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questions in the chat copilot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53912" y="2286000"/>
            <a:ext cx="5166360" cy="2286000"/>
          </a:xfrm>
          <a:prstGeom prst="roundRect">
            <a:avLst>
              <a:gd name="adj" fmla="val 3200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6409944" y="2487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AI NEVER DOES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9944" y="285292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29984" y="28529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whether two records match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9944" y="325526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29984" y="325526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amounts, deltas or totals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9944" y="365760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29984" y="36576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reconciliation status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9944" y="4059936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29984" y="40599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any number in the audit trail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41248" y="4754880"/>
            <a:ext cx="10479024" cy="1097280"/>
          </a:xfrm>
          <a:prstGeom prst="roundRect">
            <a:avLst>
              <a:gd name="adj" fmla="val 6667"/>
            </a:avLst>
          </a:prstGeom>
          <a:solidFill>
            <a:srgbClr val="16223C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Text 24"/>
          <p:cNvSpPr/>
          <p:nvPr/>
        </p:nvSpPr>
        <p:spPr>
          <a:xfrm>
            <a:off x="114300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F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FAIL SAFE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43000" y="519379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Chutes AI is slow or unavailable, every AI feature falls back to a deterministic, rule-based explanation. The system — and the demo — never breaks.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B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REASONING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flag, explained.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1248" y="15544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Explain on any transaction and Treasury AI opens a full structured reasoning breakdown.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41248" y="2240280"/>
            <a:ext cx="10479024" cy="640080"/>
          </a:xfrm>
          <a:prstGeom prst="roundRect">
            <a:avLst>
              <a:gd name="adj" fmla="val 11429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1078992" y="2404872"/>
            <a:ext cx="310896" cy="310896"/>
          </a:xfrm>
          <a:prstGeom prst="ellipse">
            <a:avLst/>
          </a:prstGeom>
          <a:solidFill>
            <a:srgbClr val="3D7EFF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1078992" y="2404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91056" y="22402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was flagged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26280" y="22402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 in plain language — what triggered this status.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41248" y="2990088"/>
            <a:ext cx="10479024" cy="640080"/>
          </a:xfrm>
          <a:prstGeom prst="roundRect">
            <a:avLst>
              <a:gd name="adj" fmla="val 11429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Shape 9"/>
          <p:cNvSpPr/>
          <p:nvPr/>
        </p:nvSpPr>
        <p:spPr>
          <a:xfrm>
            <a:off x="1078992" y="3154680"/>
            <a:ext cx="310896" cy="310896"/>
          </a:xfrm>
          <a:prstGeom prst="ellipse">
            <a:avLst/>
          </a:prstGeom>
          <a:solidFill>
            <a:srgbClr val="3D7EFF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1078992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91056" y="299008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chain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6280" y="2990088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numbered logic steps the system followed to reach it.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41248" y="3739896"/>
            <a:ext cx="10479024" cy="640080"/>
          </a:xfrm>
          <a:prstGeom prst="roundRect">
            <a:avLst>
              <a:gd name="adj" fmla="val 11429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Shape 14"/>
          <p:cNvSpPr/>
          <p:nvPr/>
        </p:nvSpPr>
        <p:spPr>
          <a:xfrm>
            <a:off x="1078992" y="3904488"/>
            <a:ext cx="310896" cy="310896"/>
          </a:xfrm>
          <a:prstGeom prst="ellipse">
            <a:avLst/>
          </a:prstGeom>
          <a:solidFill>
            <a:srgbClr val="3D7EFF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1078992" y="3904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91056" y="3739896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26280" y="3739896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financial or fraud exposure this transaction carries.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41248" y="4489704"/>
            <a:ext cx="10479024" cy="640080"/>
          </a:xfrm>
          <a:prstGeom prst="roundRect">
            <a:avLst>
              <a:gd name="adj" fmla="val 11429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Shape 19"/>
          <p:cNvSpPr/>
          <p:nvPr/>
        </p:nvSpPr>
        <p:spPr>
          <a:xfrm>
            <a:off x="1078992" y="4654296"/>
            <a:ext cx="310896" cy="310896"/>
          </a:xfrm>
          <a:prstGeom prst="ellipse">
            <a:avLst/>
          </a:prstGeom>
          <a:solidFill>
            <a:srgbClr val="3D7EFF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1078992" y="4654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91056" y="4489704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26280" y="4489704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concrete next step a treasurer should take.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41248" y="5239512"/>
            <a:ext cx="10479024" cy="640080"/>
          </a:xfrm>
          <a:prstGeom prst="roundRect">
            <a:avLst>
              <a:gd name="adj" fmla="val 11429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Shape 24"/>
          <p:cNvSpPr/>
          <p:nvPr/>
        </p:nvSpPr>
        <p:spPr>
          <a:xfrm>
            <a:off x="1078992" y="5404104"/>
            <a:ext cx="310896" cy="310896"/>
          </a:xfrm>
          <a:prstGeom prst="ellipse">
            <a:avLst/>
          </a:prstGeom>
          <a:solidFill>
            <a:srgbClr val="3D7EFF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" name="Text 25"/>
          <p:cNvSpPr/>
          <p:nvPr/>
        </p:nvSpPr>
        <p:spPr>
          <a:xfrm>
            <a:off x="1078992" y="5404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591056" y="523951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breakdown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26280" y="523951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strong the evidence is — shown as a calibrated score.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B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Treasury AI anything.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1248" y="15544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built-in conversational assistant that knows the data of the scan you are looking at — answers are grounded in real numbers, not generic advice.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41248" y="2331720"/>
            <a:ext cx="5029200" cy="3566160"/>
          </a:xfrm>
          <a:prstGeom prst="roundRect">
            <a:avLst>
              <a:gd name="adj" fmla="val 2051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1097280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B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AI COPILOT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0" y="297180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3D7EFF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2286000" y="2971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INV-1604 risky?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3611880"/>
            <a:ext cx="4206240" cy="1691640"/>
          </a:xfrm>
          <a:prstGeom prst="roundRect">
            <a:avLst>
              <a:gd name="adj" fmla="val 5405"/>
            </a:avLst>
          </a:prstGeom>
          <a:solidFill>
            <a:srgbClr val="16223C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1298448" y="3767328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INV-1604 is a 95,000 USD payment to Blackstone Holdings with no reference. The amount is far above the batch average and the missing reference weakens the audit trail — recommend holding payment for review.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63640" y="2514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F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ASK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2926080"/>
            <a:ext cx="5029200" cy="566928"/>
          </a:xfrm>
          <a:prstGeom prst="roundRect">
            <a:avLst>
              <a:gd name="adj" fmla="val 12903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Shape 11"/>
          <p:cNvSpPr/>
          <p:nvPr/>
        </p:nvSpPr>
        <p:spPr>
          <a:xfrm>
            <a:off x="6473952" y="3099816"/>
            <a:ext cx="219456" cy="219456"/>
          </a:xfrm>
          <a:prstGeom prst="ellipse">
            <a:avLst/>
          </a:prstGeom>
          <a:solidFill>
            <a:srgbClr val="5B95FF"/>
          </a:solidFill>
          <a:ln w="12700">
            <a:solidFill>
              <a:srgbClr val="5B95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6858000" y="292608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a specific invoice flagged?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3639312"/>
            <a:ext cx="5029200" cy="566928"/>
          </a:xfrm>
          <a:prstGeom prst="roundRect">
            <a:avLst>
              <a:gd name="adj" fmla="val 12903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Shape 14"/>
          <p:cNvSpPr/>
          <p:nvPr/>
        </p:nvSpPr>
        <p:spPr>
          <a:xfrm>
            <a:off x="6473952" y="3813048"/>
            <a:ext cx="219456" cy="219456"/>
          </a:xfrm>
          <a:prstGeom prst="ellipse">
            <a:avLst/>
          </a:prstGeom>
          <a:solidFill>
            <a:srgbClr val="5B95FF"/>
          </a:solidFill>
          <a:ln w="12700">
            <a:solidFill>
              <a:srgbClr val="5B95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6858000" y="363931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invoices matched this scan?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4352544"/>
            <a:ext cx="5029200" cy="566928"/>
          </a:xfrm>
          <a:prstGeom prst="roundRect">
            <a:avLst>
              <a:gd name="adj" fmla="val 12903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Shape 17"/>
          <p:cNvSpPr/>
          <p:nvPr/>
        </p:nvSpPr>
        <p:spPr>
          <a:xfrm>
            <a:off x="6473952" y="4526280"/>
            <a:ext cx="219456" cy="219456"/>
          </a:xfrm>
          <a:prstGeom prst="ellipse">
            <a:avLst/>
          </a:prstGeom>
          <a:solidFill>
            <a:srgbClr val="5B95FF"/>
          </a:solidFill>
          <a:ln w="12700">
            <a:solidFill>
              <a:srgbClr val="5B95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Text 18"/>
          <p:cNvSpPr/>
          <p:nvPr/>
        </p:nvSpPr>
        <p:spPr>
          <a:xfrm>
            <a:off x="6858000" y="4352544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invoices are still unmatched?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63640" y="5065776"/>
            <a:ext cx="5029200" cy="566928"/>
          </a:xfrm>
          <a:prstGeom prst="roundRect">
            <a:avLst>
              <a:gd name="adj" fmla="val 12903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Shape 20"/>
          <p:cNvSpPr/>
          <p:nvPr/>
        </p:nvSpPr>
        <p:spPr>
          <a:xfrm>
            <a:off x="6473952" y="5239512"/>
            <a:ext cx="219456" cy="219456"/>
          </a:xfrm>
          <a:prstGeom prst="ellipse">
            <a:avLst/>
          </a:prstGeom>
          <a:solidFill>
            <a:srgbClr val="5B95FF"/>
          </a:solidFill>
          <a:ln w="12700">
            <a:solidFill>
              <a:srgbClr val="5B95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Text 21"/>
          <p:cNvSpPr/>
          <p:nvPr/>
        </p:nvSpPr>
        <p:spPr>
          <a:xfrm>
            <a:off x="6858000" y="5065776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the risk alerts for me.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41248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a deterministic answer if the AI is offline — the demo never breaks.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B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&amp; REPORTING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Catches risk, proves the trail.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41248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109728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5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FRAUD ENGINE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143000" y="2505456"/>
            <a:ext cx="237744" cy="237744"/>
          </a:xfrm>
          <a:prstGeom prst="ellipse">
            <a:avLst/>
          </a:prstGeom>
          <a:solidFill>
            <a:srgbClr val="E5823C"/>
          </a:solidFill>
          <a:ln w="12700">
            <a:solidFill>
              <a:srgbClr val="E5823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1508760" y="241401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invoices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08760" y="270662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vendor, amount and reference billed twice.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143000" y="3163824"/>
            <a:ext cx="237744" cy="237744"/>
          </a:xfrm>
          <a:prstGeom prst="ellipse">
            <a:avLst/>
          </a:prstGeom>
          <a:solidFill>
            <a:srgbClr val="E5823C"/>
          </a:solidFill>
          <a:ln w="12700">
            <a:solidFill>
              <a:srgbClr val="E5823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1508760" y="307238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merchants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08760" y="336499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Outgoing payments with no matching invoice.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143000" y="3822192"/>
            <a:ext cx="237744" cy="237744"/>
          </a:xfrm>
          <a:prstGeom prst="ellipse">
            <a:avLst/>
          </a:prstGeom>
          <a:solidFill>
            <a:srgbClr val="E5823C"/>
          </a:solidFill>
          <a:ln w="12700">
            <a:solidFill>
              <a:srgbClr val="E5823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/>
          <p:nvPr/>
        </p:nvSpPr>
        <p:spPr>
          <a:xfrm>
            <a:off x="1508760" y="373075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references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08760" y="402336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payments with a weak audit trail.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143000" y="4480560"/>
            <a:ext cx="237744" cy="237744"/>
          </a:xfrm>
          <a:prstGeom prst="ellipse">
            <a:avLst/>
          </a:prstGeom>
          <a:solidFill>
            <a:srgbClr val="E5823C"/>
          </a:solidFill>
          <a:ln w="12700">
            <a:solidFill>
              <a:srgbClr val="E5823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1508760" y="438912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amounts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08760" y="468172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outliers far above the batch norm.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143000" y="5138928"/>
            <a:ext cx="237744" cy="237744"/>
          </a:xfrm>
          <a:prstGeom prst="ellipse">
            <a:avLst/>
          </a:prstGeom>
          <a:solidFill>
            <a:srgbClr val="E5823C"/>
          </a:solidFill>
          <a:ln w="12700">
            <a:solidFill>
              <a:srgbClr val="E5823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Text 17"/>
          <p:cNvSpPr/>
          <p:nvPr/>
        </p:nvSpPr>
        <p:spPr>
          <a:xfrm>
            <a:off x="1508760" y="504748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patterns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08760" y="534009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Round-number transfers and vendor anomalies.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99632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6455664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5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AUDIT REPORT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55664" y="23774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scan exports a professional PDF audit report, ready to hand to an accountant or auditor.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55664" y="3200400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84848" y="32004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55664" y="3621024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84848" y="362102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reconciliation metrics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55664" y="4041648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84848" y="404164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Per-invoice detail with AI notes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55664" y="4462272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84848" y="446227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&amp; risk log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455664" y="4882896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84848" y="488289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455664" y="5303520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784848" y="530352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disclaimer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B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3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agent framework.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" y="1325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hackathon build implements the core pipeline; the outer layers show the target design.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D85885-FD88-DC9A-2F2D-5FFF23CCD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3747" y="1717188"/>
            <a:ext cx="7436898" cy="49579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B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Accurate, explainable, audit-ready.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41248" y="1874520"/>
            <a:ext cx="3419856" cy="1874520"/>
          </a:xfrm>
          <a:prstGeom prst="roundRect">
            <a:avLst>
              <a:gd name="adj" fmla="val 3902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841248" y="1874520"/>
            <a:ext cx="3419856" cy="64008"/>
          </a:xfrm>
          <a:prstGeom prst="rect">
            <a:avLst/>
          </a:prstGeom>
          <a:solidFill>
            <a:srgbClr val="35C98A"/>
          </a:solidFill>
          <a:ln w="12700">
            <a:solidFill>
              <a:srgbClr val="35C9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1078992" y="2130552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accuracy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8992" y="2624328"/>
            <a:ext cx="2962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matching removes the guesswork of manual reconciliation.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70832" y="1874520"/>
            <a:ext cx="3419856" cy="1874520"/>
          </a:xfrm>
          <a:prstGeom prst="roundRect">
            <a:avLst>
              <a:gd name="adj" fmla="val 3902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4370832" y="1874520"/>
            <a:ext cx="3419856" cy="64008"/>
          </a:xfrm>
          <a:prstGeom prst="rect">
            <a:avLst/>
          </a:prstGeom>
          <a:solidFill>
            <a:srgbClr val="4FD0E0"/>
          </a:solidFill>
          <a:ln w="12700">
            <a:solidFill>
              <a:srgbClr val="4FD0E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4608576" y="2130552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08576" y="2624328"/>
            <a:ext cx="2962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comes with human-readable reasoning and a confidence score.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00416" y="1874520"/>
            <a:ext cx="3419856" cy="1874520"/>
          </a:xfrm>
          <a:prstGeom prst="roundRect">
            <a:avLst>
              <a:gd name="adj" fmla="val 3902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Shape 11"/>
          <p:cNvSpPr/>
          <p:nvPr/>
        </p:nvSpPr>
        <p:spPr>
          <a:xfrm>
            <a:off x="7900416" y="1874520"/>
            <a:ext cx="3419856" cy="64008"/>
          </a:xfrm>
          <a:prstGeom prst="rect">
            <a:avLst/>
          </a:prstGeom>
          <a:solidFill>
            <a:srgbClr val="E5823C"/>
          </a:solidFill>
          <a:ln w="12700">
            <a:solidFill>
              <a:srgbClr val="E5823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8138160" y="2130552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fraud detection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38160" y="2624328"/>
            <a:ext cx="2962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statistics and AI reasoning combine to surface real risk.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1248" y="3895344"/>
            <a:ext cx="3419856" cy="1874520"/>
          </a:xfrm>
          <a:prstGeom prst="roundRect">
            <a:avLst>
              <a:gd name="adj" fmla="val 3902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Shape 15"/>
          <p:cNvSpPr/>
          <p:nvPr/>
        </p:nvSpPr>
        <p:spPr>
          <a:xfrm>
            <a:off x="841248" y="3895344"/>
            <a:ext cx="3419856" cy="64008"/>
          </a:xfrm>
          <a:prstGeom prst="rect">
            <a:avLst/>
          </a:prstGeom>
          <a:solidFill>
            <a:srgbClr val="5B95FF"/>
          </a:solidFill>
          <a:ln w="12700">
            <a:solidFill>
              <a:srgbClr val="5B95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1078992" y="4151376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auditability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78992" y="4645152"/>
            <a:ext cx="2962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trail and a professional PDF report for every scan.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70832" y="3895344"/>
            <a:ext cx="3419856" cy="1874520"/>
          </a:xfrm>
          <a:prstGeom prst="roundRect">
            <a:avLst>
              <a:gd name="adj" fmla="val 3902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Shape 19"/>
          <p:cNvSpPr/>
          <p:nvPr/>
        </p:nvSpPr>
        <p:spPr>
          <a:xfrm>
            <a:off x="4370832" y="3895344"/>
            <a:ext cx="3419856" cy="64008"/>
          </a:xfrm>
          <a:prstGeom prst="rect">
            <a:avLst/>
          </a:prstGeom>
          <a:solidFill>
            <a:srgbClr val="5B95FF"/>
          </a:solidFill>
          <a:ln w="12700">
            <a:solidFill>
              <a:srgbClr val="5B95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4608576" y="4151376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08576" y="4645152"/>
            <a:ext cx="2962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multi-hour weekly chore becomes a one-click pipeline.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00416" y="3895344"/>
            <a:ext cx="3419856" cy="1874520"/>
          </a:xfrm>
          <a:prstGeom prst="roundRect">
            <a:avLst>
              <a:gd name="adj" fmla="val 3902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Shape 23"/>
          <p:cNvSpPr/>
          <p:nvPr/>
        </p:nvSpPr>
        <p:spPr>
          <a:xfrm>
            <a:off x="7900416" y="3895344"/>
            <a:ext cx="3419856" cy="64008"/>
          </a:xfrm>
          <a:prstGeom prst="rect">
            <a:avLst/>
          </a:prstGeom>
          <a:solidFill>
            <a:srgbClr val="35C98A"/>
          </a:solidFill>
          <a:ln w="12700">
            <a:solidFill>
              <a:srgbClr val="35C9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Text 24"/>
          <p:cNvSpPr/>
          <p:nvPr/>
        </p:nvSpPr>
        <p:spPr>
          <a:xfrm>
            <a:off x="8138160" y="4151376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safe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138160" y="4645152"/>
            <a:ext cx="2962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fallbacks keep the system working if the AI is offline.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108960"/>
            <a:ext cx="6400800" cy="6400800"/>
          </a:xfrm>
          <a:prstGeom prst="ellipse">
            <a:avLst/>
          </a:prstGeom>
          <a:solidFill>
            <a:srgbClr val="3D7EFF">
              <a:alpha val="12000"/>
            </a:srgbClr>
          </a:solidFill>
          <a:ln w="12700">
            <a:solidFill>
              <a:srgbClr val="070B1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8686800" y="-2377440"/>
            <a:ext cx="5486400" cy="5486400"/>
          </a:xfrm>
          <a:prstGeom prst="ellipse">
            <a:avLst/>
          </a:prstGeom>
          <a:solidFill>
            <a:srgbClr val="4FD0E0">
              <a:alpha val="10000"/>
            </a:srgbClr>
          </a:solidFill>
          <a:ln w="12700">
            <a:solidFill>
              <a:srgbClr val="070B1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841248" y="1325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D7EFF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841248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3F6FC"/>
                </a:solidFill>
              </a:rPr>
              <a:t>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325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AI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86384" y="246888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3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841248" y="3977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5B9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Reconciliation that explains itself.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41248" y="4892040"/>
            <a:ext cx="1435608" cy="457200"/>
          </a:xfrm>
          <a:prstGeom prst="roundRect">
            <a:avLst>
              <a:gd name="adj" fmla="val 50000"/>
            </a:avLst>
          </a:prstGeom>
          <a:solidFill>
            <a:srgbClr val="101A30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841248" y="4892040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41448" y="4892040"/>
            <a:ext cx="1330452" cy="457200"/>
          </a:xfrm>
          <a:prstGeom prst="roundRect">
            <a:avLst>
              <a:gd name="adj" fmla="val 50000"/>
            </a:avLst>
          </a:prstGeom>
          <a:solidFill>
            <a:srgbClr val="101A30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2441448" y="4892040"/>
            <a:ext cx="13304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936492" y="4892040"/>
            <a:ext cx="1856232" cy="457200"/>
          </a:xfrm>
          <a:prstGeom prst="roundRect">
            <a:avLst>
              <a:gd name="adj" fmla="val 50000"/>
            </a:avLst>
          </a:prstGeom>
          <a:solidFill>
            <a:srgbClr val="101A30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3936492" y="4892040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Cross-currency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57316" y="4892040"/>
            <a:ext cx="1540764" cy="457200"/>
          </a:xfrm>
          <a:prstGeom prst="roundRect">
            <a:avLst>
              <a:gd name="adj" fmla="val 50000"/>
            </a:avLst>
          </a:prstGeom>
          <a:solidFill>
            <a:srgbClr val="101A30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5957316" y="4892040"/>
            <a:ext cx="15407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Fraud-aware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41248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1039</Words>
  <Application>Microsoft Office PowerPoint</Application>
  <PresentationFormat>Widescreen</PresentationFormat>
  <Paragraphs>199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Treasury AI</dc:title>
  <dc:subject>PptxGenJS Presentation</dc:subject>
  <dc:creator>Treasury AI Team</dc:creator>
  <cp:lastModifiedBy>Hashreena Kaur</cp:lastModifiedBy>
  <cp:revision>2</cp:revision>
  <dcterms:created xsi:type="dcterms:W3CDTF">2026-05-25T09:02:10Z</dcterms:created>
  <dcterms:modified xsi:type="dcterms:W3CDTF">2026-05-25T09:24:39Z</dcterms:modified>
</cp:coreProperties>
</file>