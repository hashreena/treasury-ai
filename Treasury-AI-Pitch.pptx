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194560"/>
            <a:ext cx="5486400" cy="5486400"/>
          </a:xfrm>
          <a:prstGeom prst="ellipse">
            <a:avLst/>
          </a:prstGeom>
          <a:solidFill>
            <a:srgbClr val="2B9D6C">
              <a:alpha val="18000"/>
            </a:srgbClr>
          </a:solidFill>
          <a:ln w="12700">
            <a:solidFill>
              <a:srgbClr val="0C0F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3931920"/>
            <a:ext cx="4114800" cy="4114800"/>
          </a:xfrm>
          <a:prstGeom prst="ellipse">
            <a:avLst/>
          </a:prstGeom>
          <a:solidFill>
            <a:srgbClr val="3FCF8E">
              <a:alpha val="12000"/>
            </a:srgbClr>
          </a:solidFill>
          <a:ln w="12700">
            <a:solidFill>
              <a:srgbClr val="0C0F1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9144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3FCF8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9144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0F16"/>
                </a:solidFill>
              </a:rPr>
              <a:t>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932688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TREASURY AI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78638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0F3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treasury</a:t>
            </a:r>
            <a:endParaRPr lang="en-US" sz="5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0F3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analyst that never</a:t>
            </a:r>
            <a:endParaRPr lang="en-US" sz="5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0F3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sleeps.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841248" y="4800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treasury &amp; reconciliation for small and mid-sized businesses — it reads documents, matches payments across currencies, catches fraud, and explains every discrepancy.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" y="5943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2026  ·  LIVE DEMO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3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SMEs reconcile money by hand — and it costs them.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82296" cy="1691640"/>
          </a:xfrm>
          <a:prstGeom prst="roundRect">
            <a:avLst/>
          </a:prstGeom>
          <a:solidFill>
            <a:srgbClr val="F25555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304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Cross-border chaos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43000" y="27432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land in different currencies; FX spreads and bank fees distort every amount.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210312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2103120"/>
            <a:ext cx="82296" cy="1691640"/>
          </a:xfrm>
          <a:prstGeom prst="roundRect">
            <a:avLst/>
          </a:prstGeom>
          <a:solidFill>
            <a:srgbClr val="F25555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2304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reconciliation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629400" y="27432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each week spent eyeballing spreadsheets against bank statements.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06908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069080"/>
            <a:ext cx="82296" cy="1691640"/>
          </a:xfrm>
          <a:prstGeom prst="roundRect">
            <a:avLst/>
          </a:prstGeom>
          <a:solidFill>
            <a:srgbClr val="F25555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2702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mismatches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43000" y="47091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references and partial payments make matching guesswork.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406908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4069080"/>
            <a:ext cx="82296" cy="1691640"/>
          </a:xfrm>
          <a:prstGeom prst="roundRect">
            <a:avLst/>
          </a:prstGeom>
          <a:solidFill>
            <a:srgbClr val="F25555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42702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slips through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29400" y="47091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invoices and unknown-vendor payments go unnoticed until it's too late.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hour spent reconciling is an hour not spent running the business.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F3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 autonomous treasury analyst.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41248" y="169164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checking spreadsheets by hand, your team gets an AI agent that runs the whole reconciliation cycle — and shows its work.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3FCF8E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0F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370332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financial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06624" y="36118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CF8E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072384" y="274320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6704" y="3017520"/>
            <a:ext cx="457200" cy="457200"/>
          </a:xfrm>
          <a:prstGeom prst="ellipse">
            <a:avLst/>
          </a:prstGeom>
          <a:solidFill>
            <a:srgbClr val="3FCF8E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46704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0F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73552" y="370332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payments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currencies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56048" y="36118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CF8E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321808" y="274320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96128" y="3017520"/>
            <a:ext cx="457200" cy="457200"/>
          </a:xfrm>
          <a:prstGeom prst="ellipse">
            <a:avLst/>
          </a:prstGeom>
          <a:solidFill>
            <a:srgbClr val="3FCF8E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96128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0F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522976" y="370332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fraud &amp;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anomalies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205472" y="36118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CF8E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571232" y="274320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45552" y="3017520"/>
            <a:ext cx="457200" cy="457200"/>
          </a:xfrm>
          <a:prstGeom prst="ellipse">
            <a:avLst/>
          </a:prstGeom>
          <a:solidFill>
            <a:srgbClr val="3FCF8E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45552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0F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72400" y="370332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every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discrepancy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454896" y="36118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CF8E"/>
                </a:solidFill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820656" y="274320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94976" y="3017520"/>
            <a:ext cx="457200" cy="457200"/>
          </a:xfrm>
          <a:prstGeom prst="ellipse">
            <a:avLst/>
          </a:prstGeom>
          <a:solidFill>
            <a:srgbClr val="3FCF8E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94976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0F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21824" y="3703320"/>
            <a:ext cx="1691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audit-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reports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5440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matching math is deterministic, auditable code. The AI only explains and advises — it never decides the numbers. An analyst, not a calculator.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Seven capabilities, one pipeline.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1031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B9D6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3F6"/>
                </a:solidFill>
              </a:rPr>
              <a:t>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07568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Document Upload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69848" y="26517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Invoices, receipts, PDFs, screenshots, bank statements, Excel.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187452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21031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B9D6C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3F6"/>
                </a:solidFill>
              </a:rPr>
              <a:t>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207568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Data Extraction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73168" y="26517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Pulls invoice no., amount, currency, vendor, reference, date.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87452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8200" y="21031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B9D6C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3F6"/>
                </a:solidFill>
              </a:rPr>
              <a:t>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052560" y="207568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 Engine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76488" y="26517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Classifies matched, partial, suspicious and unmatched.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365760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1560" y="38862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B9D6C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3F6"/>
                </a:solidFill>
              </a:rPr>
              <a:t>✦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45920" y="385876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Reasoning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9848" y="44348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Plain-English explanation of every mismatch and decision.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26280" y="365760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0" y="38862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B9D6C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3F6"/>
                </a:solidFill>
              </a:rPr>
              <a:t>⚠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49240" y="385876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&amp; Risk Detection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73168" y="44348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duplicates, odd amounts, unknown vendors, patterns.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0" y="365760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8200" y="38862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B9D6C"/>
          </a:solidFill>
          <a:ln/>
        </p:spPr>
      </p:sp>
      <p:sp>
        <p:nvSpPr>
          <p:cNvPr id="31" name="Text 29"/>
          <p:cNvSpPr/>
          <p:nvPr/>
        </p:nvSpPr>
        <p:spPr>
          <a:xfrm>
            <a:off x="845820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3F6"/>
                </a:solidFill>
              </a:rPr>
              <a:t>◰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052560" y="385876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Dashboard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476488" y="44348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KPIs, confidence scores, fraud alerts and analytics charts.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" y="553212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2B9D6C">
              <a:alpha val="25000"/>
            </a:srgbClr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7280" y="55321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 One-click Audit Report Generation — reconciliation summaries, anomaly logs and full audit trails, ready to hand to an accountant.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three-layer pipeline.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10515600" cy="1188720"/>
          </a:xfrm>
          <a:prstGeom prst="roundRect">
            <a:avLst>
              <a:gd name="adj" fmla="val 6154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109728" cy="1188720"/>
          </a:xfrm>
          <a:prstGeom prst="roundRect">
            <a:avLst/>
          </a:prstGeom>
          <a:solidFill>
            <a:srgbClr val="3FCF8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87452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456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194560" y="242316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uploaded files into structured invoice and transaction records.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187452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openpyxl · pdfplumber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246120"/>
            <a:ext cx="10515600" cy="1188720"/>
          </a:xfrm>
          <a:prstGeom prst="roundRect">
            <a:avLst>
              <a:gd name="adj" fmla="val 6154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46120"/>
            <a:ext cx="109728" cy="1188720"/>
          </a:xfrm>
          <a:prstGeom prst="roundRect">
            <a:avLst/>
          </a:prstGeom>
          <a:solidFill>
            <a:srgbClr val="E3B341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24612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B3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94560" y="3429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94560" y="379476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reconciliation matching and rule-based fraud detection.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0" y="324612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3B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Python — auditable, no AI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617720"/>
            <a:ext cx="10515600" cy="1188720"/>
          </a:xfrm>
          <a:prstGeom prst="roundRect">
            <a:avLst>
              <a:gd name="adj" fmla="val 6154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617720"/>
            <a:ext cx="109728" cy="1188720"/>
          </a:xfrm>
          <a:prstGeom prst="roundRect">
            <a:avLst/>
          </a:prstGeom>
          <a:solidFill>
            <a:srgbClr val="F0883E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4617720"/>
            <a:ext cx="1005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194560" y="4800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94560" y="516636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Plain-English explanations and audit report assembly.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0" y="461772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088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Chutes AI LLM · deterministic fallback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is independent and testable on its own — and the demo runs end-to-end with one call to  /demo.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 slides — a system that runs.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FastAPI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20440" y="18745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0116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088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520440" y="2880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rules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32004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engine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8745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0116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3B3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63%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217920" y="2880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confidence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32004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sample data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15400" y="18745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20116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1-click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8915400" y="2880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3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report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15400" y="32004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→ report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3977640"/>
            <a:ext cx="10515600" cy="1874520"/>
          </a:xfrm>
          <a:prstGeom prst="roundRect">
            <a:avLst>
              <a:gd name="adj" fmla="val 4878"/>
            </a:avLst>
          </a:prstGeom>
          <a:solidFill>
            <a:srgbClr val="141923"/>
          </a:solidFill>
          <a:ln w="12700">
            <a:solidFill>
              <a:srgbClr val="1C23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4160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LIVE DEMO SHOWS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4526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CF8E"/>
                </a:solidFill>
              </a:rPr>
              <a:t>▸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4507992"/>
            <a:ext cx="9692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 bank statement — AI extracts every field automatically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48371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CF8E"/>
                </a:solidFill>
              </a:rPr>
              <a:t>▸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17320" y="4818888"/>
            <a:ext cx="9692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 engine flags a duplicate 12,480 USD invoice and an unknown-merchant payment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43000" y="5148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CF8E"/>
                </a:solidFill>
              </a:rPr>
              <a:t>▸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17320" y="5129784"/>
            <a:ext cx="9692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row — the AI explains the mismatch and recommends an action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43000" y="54589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CF8E"/>
                </a:solidFill>
              </a:rPr>
              <a:t>▸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417320" y="5440680"/>
            <a:ext cx="9692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 generates the full audit report with executive summary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2 days. Interactive React dashboard + Python backend, both running.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F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657600"/>
            <a:ext cx="5486400" cy="5486400"/>
          </a:xfrm>
          <a:prstGeom prst="ellipse">
            <a:avLst/>
          </a:prstGeom>
          <a:solidFill>
            <a:srgbClr val="2B9D6C">
              <a:alpha val="16000"/>
            </a:srgbClr>
          </a:solidFill>
          <a:ln w="12700">
            <a:solidFill>
              <a:srgbClr val="0C0F16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80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</a:rPr>
              <a:t>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0F3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Treasury AI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41248" y="2971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 that explains itself.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41248" y="3749040"/>
            <a:ext cx="8686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turned a tedious, error-prone, hours-long chore into a one-click pipeline — with auditable math at its core and an AI analyst on top. SMEs get back their time, and their accountants get a clean trail.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512064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141923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5120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35808" y="512064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141923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35808" y="5120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30368" y="512064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141923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5120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Cross-currency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24928" y="512064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141923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24928" y="5120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Fraud-aware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1248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 ·  Questions welcome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2026-05-24T04:00:02Z</dcterms:created>
  <dcterms:modified xsi:type="dcterms:W3CDTF">2026-05-24T04:00:02Z</dcterms:modified>
</cp:coreProperties>
</file>