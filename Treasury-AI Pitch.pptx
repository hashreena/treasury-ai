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8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361" autoAdjust="0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76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8987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C5FF6-CBDD-7940-B8E3-F11F4DE12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CDC299-BE1F-D001-94F1-1E2C01C03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07F6A-6490-4E99-9867-FEC3D9752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EC3E8-BB28-42A6-BA2F-9F8729A31A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956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-2103120"/>
            <a:ext cx="6400800" cy="6400800"/>
          </a:xfrm>
          <a:prstGeom prst="ellipse">
            <a:avLst/>
          </a:prstGeom>
          <a:solidFill>
            <a:srgbClr val="3D7EFF">
              <a:alpha val="14000"/>
            </a:srgbClr>
          </a:solidFill>
          <a:ln w="12700">
            <a:solidFill>
              <a:srgbClr val="070B1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Shape 1"/>
          <p:cNvSpPr/>
          <p:nvPr/>
        </p:nvSpPr>
        <p:spPr>
          <a:xfrm>
            <a:off x="9144000" y="3291840"/>
            <a:ext cx="4572000" cy="4572000"/>
          </a:xfrm>
          <a:prstGeom prst="ellipse">
            <a:avLst/>
          </a:prstGeom>
          <a:solidFill>
            <a:srgbClr val="4FD0E0">
              <a:alpha val="10000"/>
            </a:srgbClr>
          </a:solidFill>
          <a:ln w="12700">
            <a:solidFill>
              <a:srgbClr val="070B1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Shape 2"/>
          <p:cNvSpPr/>
          <p:nvPr/>
        </p:nvSpPr>
        <p:spPr>
          <a:xfrm>
            <a:off x="841248" y="777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D7EFF"/>
          </a:solidFill>
          <a:ln w="12700">
            <a:solidFill>
              <a:srgbClr val="3D7E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" name="Text 3"/>
          <p:cNvSpPr/>
          <p:nvPr/>
        </p:nvSpPr>
        <p:spPr>
          <a:xfrm>
            <a:off x="841248" y="777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3F6FC"/>
                </a:solidFill>
              </a:rPr>
              <a:t>◆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7772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2026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86384" y="2148840"/>
            <a:ext cx="10058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600" b="1" dirty="0">
                <a:solidFill>
                  <a:srgbClr val="F3F6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Treasury AI</a:t>
            </a:r>
            <a:endParaRPr lang="en-US" sz="7600" dirty="0"/>
          </a:p>
        </p:txBody>
      </p:sp>
      <p:sp>
        <p:nvSpPr>
          <p:cNvPr id="8" name="Text 6"/>
          <p:cNvSpPr/>
          <p:nvPr/>
        </p:nvSpPr>
        <p:spPr>
          <a:xfrm>
            <a:off x="841248" y="37033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5B95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Reconciliation that explains itself.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41248" y="457200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autonomous treasury analyst for small and mid-sized businesses — it reads documents, matches payments across currencies, catches fraud, and explains every discrepancy.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5932C2-FAD1-D40C-4243-8A188CB33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EFF620F-2F69-B982-99C0-B7DF3894EBDC}"/>
              </a:ext>
            </a:extLst>
          </p:cNvPr>
          <p:cNvSpPr/>
          <p:nvPr/>
        </p:nvSpPr>
        <p:spPr>
          <a:xfrm>
            <a:off x="84124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B9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THE TEAM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D45AAC6-649A-D740-7339-1F2AE716E89A}"/>
              </a:ext>
            </a:extLst>
          </p:cNvPr>
          <p:cNvSpPr/>
          <p:nvPr/>
        </p:nvSpPr>
        <p:spPr>
          <a:xfrm>
            <a:off x="822960" y="8686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6FC"/>
                </a:solidFill>
                <a:latin typeface="Georgia" pitchFamily="34" charset="0"/>
              </a:rPr>
              <a:t>Our Team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F116973-9EB5-45FD-352A-CE09D2BD2B4A}"/>
              </a:ext>
            </a:extLst>
          </p:cNvPr>
          <p:cNvSpPr/>
          <p:nvPr/>
        </p:nvSpPr>
        <p:spPr>
          <a:xfrm>
            <a:off x="841248" y="15544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passionate team of innovators building the future of AI-powered treasury management.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214D5A4-3401-4A02-E118-359C188F547F}"/>
              </a:ext>
            </a:extLst>
          </p:cNvPr>
          <p:cNvSpPr/>
          <p:nvPr/>
        </p:nvSpPr>
        <p:spPr>
          <a:xfrm>
            <a:off x="1551165" y="2247779"/>
            <a:ext cx="1993392" cy="2286000"/>
          </a:xfrm>
          <a:prstGeom prst="roundRect">
            <a:avLst>
              <a:gd name="adj" fmla="val 3670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6574AFF-2B41-0820-DCD3-10C4F8D9535A}"/>
              </a:ext>
            </a:extLst>
          </p:cNvPr>
          <p:cNvSpPr/>
          <p:nvPr/>
        </p:nvSpPr>
        <p:spPr>
          <a:xfrm>
            <a:off x="1551165" y="2247779"/>
            <a:ext cx="1993392" cy="64008"/>
          </a:xfrm>
          <a:prstGeom prst="rect">
            <a:avLst/>
          </a:prstGeom>
          <a:solidFill>
            <a:srgbClr val="5B95FF"/>
          </a:solidFill>
          <a:ln w="12700">
            <a:solidFill>
              <a:srgbClr val="5B95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3C6E0D6-4D2F-5634-3015-D1406930A5F0}"/>
              </a:ext>
            </a:extLst>
          </p:cNvPr>
          <p:cNvSpPr/>
          <p:nvPr/>
        </p:nvSpPr>
        <p:spPr>
          <a:xfrm>
            <a:off x="1788909" y="2485523"/>
            <a:ext cx="15361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07E2420-A3F1-0D33-5D43-A4A49EDEE901}"/>
              </a:ext>
            </a:extLst>
          </p:cNvPr>
          <p:cNvSpPr/>
          <p:nvPr/>
        </p:nvSpPr>
        <p:spPr>
          <a:xfrm>
            <a:off x="3709149" y="2247779"/>
            <a:ext cx="1993392" cy="2286000"/>
          </a:xfrm>
          <a:prstGeom prst="roundRect">
            <a:avLst>
              <a:gd name="adj" fmla="val 3670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23D44A79-6498-8947-404F-07CBBBB838BE}"/>
              </a:ext>
            </a:extLst>
          </p:cNvPr>
          <p:cNvSpPr/>
          <p:nvPr/>
        </p:nvSpPr>
        <p:spPr>
          <a:xfrm>
            <a:off x="3709149" y="2247779"/>
            <a:ext cx="1993392" cy="64008"/>
          </a:xfrm>
          <a:prstGeom prst="rect">
            <a:avLst/>
          </a:prstGeom>
          <a:solidFill>
            <a:srgbClr val="5B95FF"/>
          </a:solidFill>
          <a:ln w="12700">
            <a:solidFill>
              <a:srgbClr val="5B95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2529623E-945C-766B-2DA2-502365091625}"/>
              </a:ext>
            </a:extLst>
          </p:cNvPr>
          <p:cNvSpPr/>
          <p:nvPr/>
        </p:nvSpPr>
        <p:spPr>
          <a:xfrm>
            <a:off x="5867133" y="2247779"/>
            <a:ext cx="1993392" cy="2286000"/>
          </a:xfrm>
          <a:prstGeom prst="roundRect">
            <a:avLst>
              <a:gd name="adj" fmla="val 3670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39A9F503-8BAE-3C9B-59E3-9745ABD43112}"/>
              </a:ext>
            </a:extLst>
          </p:cNvPr>
          <p:cNvSpPr/>
          <p:nvPr/>
        </p:nvSpPr>
        <p:spPr>
          <a:xfrm>
            <a:off x="5867133" y="2247779"/>
            <a:ext cx="1993392" cy="64008"/>
          </a:xfrm>
          <a:prstGeom prst="rect">
            <a:avLst/>
          </a:prstGeom>
          <a:solidFill>
            <a:srgbClr val="4FD0E0"/>
          </a:solidFill>
          <a:ln w="12700">
            <a:solidFill>
              <a:srgbClr val="4FD0E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BC766ADD-02E8-7D3C-55AA-A905B5C6AB59}"/>
              </a:ext>
            </a:extLst>
          </p:cNvPr>
          <p:cNvSpPr/>
          <p:nvPr/>
        </p:nvSpPr>
        <p:spPr>
          <a:xfrm>
            <a:off x="8025117" y="2247779"/>
            <a:ext cx="1993392" cy="2286000"/>
          </a:xfrm>
          <a:prstGeom prst="roundRect">
            <a:avLst>
              <a:gd name="adj" fmla="val 3670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FCB6F3AC-82B5-9D1F-1A77-962DD2488D26}"/>
              </a:ext>
            </a:extLst>
          </p:cNvPr>
          <p:cNvSpPr/>
          <p:nvPr/>
        </p:nvSpPr>
        <p:spPr>
          <a:xfrm>
            <a:off x="8025117" y="2247779"/>
            <a:ext cx="1993392" cy="64008"/>
          </a:xfrm>
          <a:prstGeom prst="rect">
            <a:avLst/>
          </a:prstGeom>
          <a:solidFill>
            <a:srgbClr val="35C98A"/>
          </a:solidFill>
          <a:ln w="12700">
            <a:solidFill>
              <a:srgbClr val="35C98A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07AE952D-F85A-6DE1-E99E-84305AB5FFAF}"/>
              </a:ext>
            </a:extLst>
          </p:cNvPr>
          <p:cNvSpPr/>
          <p:nvPr/>
        </p:nvSpPr>
        <p:spPr>
          <a:xfrm>
            <a:off x="1143000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3390D0DC-8E30-E1F2-3407-E8265FCA09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777" y="2447576"/>
            <a:ext cx="1283475" cy="2043343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0A28197-2E86-4F8E-4420-A730DCDEB8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2776" y="2447577"/>
            <a:ext cx="1532508" cy="2043343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BA87909B-C18C-7376-DA78-48B62DA0EF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8927" y="2447576"/>
            <a:ext cx="1589267" cy="2043343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171C5E8-E0BA-50F0-C96C-E4387E9BF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62832" y="2447577"/>
            <a:ext cx="1809060" cy="2002261"/>
          </a:xfrm>
          <a:prstGeom prst="rect">
            <a:avLst/>
          </a:prstGeom>
        </p:spPr>
      </p:pic>
      <p:sp>
        <p:nvSpPr>
          <p:cNvPr id="48" name="Shape 3">
            <a:extLst>
              <a:ext uri="{FF2B5EF4-FFF2-40B4-BE49-F238E27FC236}">
                <a16:creationId xmlns:a16="http://schemas.microsoft.com/office/drawing/2014/main" id="{542CA4DE-4A93-2A85-6C67-CCC80B7C4BBD}"/>
              </a:ext>
            </a:extLst>
          </p:cNvPr>
          <p:cNvSpPr/>
          <p:nvPr/>
        </p:nvSpPr>
        <p:spPr>
          <a:xfrm>
            <a:off x="8056864" y="4686179"/>
            <a:ext cx="1993392" cy="240384"/>
          </a:xfrm>
          <a:prstGeom prst="roundRect">
            <a:avLst>
              <a:gd name="adj" fmla="val 3670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r>
              <a:rPr lang="en-MY" sz="1200" dirty="0">
                <a:solidFill>
                  <a:schemeClr val="bg1"/>
                </a:solidFill>
              </a:rPr>
              <a:t>Project Lead | AI Strategy</a:t>
            </a:r>
            <a:endParaRPr lang="en-MY" sz="1200" dirty="0"/>
          </a:p>
        </p:txBody>
      </p:sp>
      <p:sp>
        <p:nvSpPr>
          <p:cNvPr id="50" name="Shape 3">
            <a:extLst>
              <a:ext uri="{FF2B5EF4-FFF2-40B4-BE49-F238E27FC236}">
                <a16:creationId xmlns:a16="http://schemas.microsoft.com/office/drawing/2014/main" id="{3C433376-55B9-FE3D-D61A-71B530B49824}"/>
              </a:ext>
            </a:extLst>
          </p:cNvPr>
          <p:cNvSpPr/>
          <p:nvPr/>
        </p:nvSpPr>
        <p:spPr>
          <a:xfrm>
            <a:off x="5867133" y="4686179"/>
            <a:ext cx="1993392" cy="240384"/>
          </a:xfrm>
          <a:prstGeom prst="roundRect">
            <a:avLst>
              <a:gd name="adj" fmla="val 3670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pPr algn="ctr"/>
            <a:r>
              <a:rPr lang="en-MY" sz="1200" dirty="0">
                <a:solidFill>
                  <a:schemeClr val="bg1"/>
                </a:solidFill>
              </a:rPr>
              <a:t>AI Engineer</a:t>
            </a:r>
            <a:endParaRPr lang="en-MY" sz="1200" dirty="0"/>
          </a:p>
        </p:txBody>
      </p:sp>
      <p:sp>
        <p:nvSpPr>
          <p:cNvPr id="51" name="Shape 3">
            <a:extLst>
              <a:ext uri="{FF2B5EF4-FFF2-40B4-BE49-F238E27FC236}">
                <a16:creationId xmlns:a16="http://schemas.microsoft.com/office/drawing/2014/main" id="{DA8E369C-7675-6BED-3607-F445AEFCBB82}"/>
              </a:ext>
            </a:extLst>
          </p:cNvPr>
          <p:cNvSpPr/>
          <p:nvPr/>
        </p:nvSpPr>
        <p:spPr>
          <a:xfrm>
            <a:off x="3677402" y="4686179"/>
            <a:ext cx="1993392" cy="240384"/>
          </a:xfrm>
          <a:prstGeom prst="roundRect">
            <a:avLst>
              <a:gd name="adj" fmla="val 3670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pPr algn="ctr"/>
            <a:r>
              <a:rPr lang="en-MY" sz="1200" dirty="0">
                <a:solidFill>
                  <a:schemeClr val="bg1"/>
                </a:solidFill>
              </a:rPr>
              <a:t>Frontend Engineer</a:t>
            </a:r>
            <a:endParaRPr lang="en-MY" sz="1200" dirty="0"/>
          </a:p>
        </p:txBody>
      </p:sp>
      <p:sp>
        <p:nvSpPr>
          <p:cNvPr id="52" name="Shape 3">
            <a:extLst>
              <a:ext uri="{FF2B5EF4-FFF2-40B4-BE49-F238E27FC236}">
                <a16:creationId xmlns:a16="http://schemas.microsoft.com/office/drawing/2014/main" id="{DD035FEF-820D-CD5C-FF51-2C21FC961A5D}"/>
              </a:ext>
            </a:extLst>
          </p:cNvPr>
          <p:cNvSpPr/>
          <p:nvPr/>
        </p:nvSpPr>
        <p:spPr>
          <a:xfrm>
            <a:off x="1551165" y="4669569"/>
            <a:ext cx="1993392" cy="240384"/>
          </a:xfrm>
          <a:prstGeom prst="roundRect">
            <a:avLst>
              <a:gd name="adj" fmla="val 3670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pPr algn="ctr"/>
            <a:r>
              <a:rPr lang="en-MY" sz="1200" dirty="0">
                <a:solidFill>
                  <a:schemeClr val="bg1"/>
                </a:solidFill>
              </a:rPr>
              <a:t>Infrastructure Engineer</a:t>
            </a:r>
            <a:endParaRPr lang="en-MY" sz="1200" dirty="0"/>
          </a:p>
        </p:txBody>
      </p:sp>
    </p:spTree>
    <p:extLst>
      <p:ext uri="{BB962C8B-B14F-4D97-AF65-F5344CB8AC3E}">
        <p14:creationId xmlns:p14="http://schemas.microsoft.com/office/powerpoint/2010/main" val="3434646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B9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6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SMEs reconcile money by hand — and it costs them.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41248" y="1965960"/>
            <a:ext cx="5212080" cy="1600200"/>
          </a:xfrm>
          <a:prstGeom prst="roundRect">
            <a:avLst>
              <a:gd name="adj" fmla="val 4571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" name="Shape 3"/>
          <p:cNvSpPr/>
          <p:nvPr/>
        </p:nvSpPr>
        <p:spPr>
          <a:xfrm>
            <a:off x="841248" y="1965960"/>
            <a:ext cx="64008" cy="1600200"/>
          </a:xfrm>
          <a:prstGeom prst="rect">
            <a:avLst/>
          </a:prstGeom>
          <a:solidFill>
            <a:srgbClr val="E85563"/>
          </a:solidFill>
          <a:ln w="12700">
            <a:solidFill>
              <a:srgbClr val="E85563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Text 4"/>
          <p:cNvSpPr/>
          <p:nvPr/>
        </p:nvSpPr>
        <p:spPr>
          <a:xfrm>
            <a:off x="1115568" y="21671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chaos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2569464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arrive in different currencies; FX spreads and bank fees distort every amount.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45936" y="1965960"/>
            <a:ext cx="5212080" cy="1600200"/>
          </a:xfrm>
          <a:prstGeom prst="roundRect">
            <a:avLst>
              <a:gd name="adj" fmla="val 4571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" name="Shape 7"/>
          <p:cNvSpPr/>
          <p:nvPr/>
        </p:nvSpPr>
        <p:spPr>
          <a:xfrm>
            <a:off x="6345936" y="1965960"/>
            <a:ext cx="64008" cy="1600200"/>
          </a:xfrm>
          <a:prstGeom prst="rect">
            <a:avLst/>
          </a:prstGeom>
          <a:solidFill>
            <a:srgbClr val="E5823C"/>
          </a:solidFill>
          <a:ln w="12700">
            <a:solidFill>
              <a:srgbClr val="E5823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" name="Text 8"/>
          <p:cNvSpPr/>
          <p:nvPr/>
        </p:nvSpPr>
        <p:spPr>
          <a:xfrm>
            <a:off x="6620256" y="21671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reconciliation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620256" y="2569464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each week spent eyeballing spreadsheets against bank statements.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1248" y="3858768"/>
            <a:ext cx="5212080" cy="1600200"/>
          </a:xfrm>
          <a:prstGeom prst="roundRect">
            <a:avLst>
              <a:gd name="adj" fmla="val 4571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" name="Shape 11"/>
          <p:cNvSpPr/>
          <p:nvPr/>
        </p:nvSpPr>
        <p:spPr>
          <a:xfrm>
            <a:off x="841248" y="3858768"/>
            <a:ext cx="64008" cy="1600200"/>
          </a:xfrm>
          <a:prstGeom prst="rect">
            <a:avLst/>
          </a:prstGeom>
          <a:solidFill>
            <a:srgbClr val="E0A93A"/>
          </a:solidFill>
          <a:ln w="12700">
            <a:solidFill>
              <a:srgbClr val="E0A93A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" name="Text 12"/>
          <p:cNvSpPr/>
          <p:nvPr/>
        </p:nvSpPr>
        <p:spPr>
          <a:xfrm>
            <a:off x="1115568" y="405993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mismatches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15568" y="4462272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references and partial payments turn matching into guesswork.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45936" y="3858768"/>
            <a:ext cx="5212080" cy="1600200"/>
          </a:xfrm>
          <a:prstGeom prst="roundRect">
            <a:avLst>
              <a:gd name="adj" fmla="val 4571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" name="Shape 15"/>
          <p:cNvSpPr/>
          <p:nvPr/>
        </p:nvSpPr>
        <p:spPr>
          <a:xfrm>
            <a:off x="6345936" y="3858768"/>
            <a:ext cx="64008" cy="1600200"/>
          </a:xfrm>
          <a:prstGeom prst="rect">
            <a:avLst/>
          </a:prstGeom>
          <a:solidFill>
            <a:srgbClr val="E85563"/>
          </a:solidFill>
          <a:ln w="12700">
            <a:solidFill>
              <a:srgbClr val="E85563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" name="Text 16"/>
          <p:cNvSpPr/>
          <p:nvPr/>
        </p:nvSpPr>
        <p:spPr>
          <a:xfrm>
            <a:off x="6620256" y="405993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slips through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20256" y="4462272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invoices and unknown-vendor payments go unnoticed until it is too late.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41248" y="5806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9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hour spent reconciling is an hour not spent running the business.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43000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B9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6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autonomous treasury analyst.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41248" y="1554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checking spreadsheets by hand, your team gets an AI agent that runs the whole reconciliation cycle — and shows its work.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41248" y="2468880"/>
            <a:ext cx="1993392" cy="1691640"/>
          </a:xfrm>
          <a:prstGeom prst="roundRect">
            <a:avLst>
              <a:gd name="adj" fmla="val 4324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Shape 4"/>
          <p:cNvSpPr/>
          <p:nvPr/>
        </p:nvSpPr>
        <p:spPr>
          <a:xfrm>
            <a:off x="1097280" y="2724912"/>
            <a:ext cx="457200" cy="457200"/>
          </a:xfrm>
          <a:prstGeom prst="ellipse">
            <a:avLst/>
          </a:prstGeom>
          <a:solidFill>
            <a:srgbClr val="3D7EFF"/>
          </a:solidFill>
          <a:ln w="12700">
            <a:solidFill>
              <a:srgbClr val="3D7E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" name="Text 5"/>
          <p:cNvSpPr/>
          <p:nvPr/>
        </p:nvSpPr>
        <p:spPr>
          <a:xfrm>
            <a:off x="1097280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60704" y="33101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financial documents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798064" y="2468880"/>
            <a:ext cx="2377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A7795"/>
                </a:solidFill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999232" y="2468880"/>
            <a:ext cx="1993392" cy="1691640"/>
          </a:xfrm>
          <a:prstGeom prst="roundRect">
            <a:avLst>
              <a:gd name="adj" fmla="val 4324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" name="Shape 9"/>
          <p:cNvSpPr/>
          <p:nvPr/>
        </p:nvSpPr>
        <p:spPr>
          <a:xfrm>
            <a:off x="3255264" y="2724912"/>
            <a:ext cx="457200" cy="457200"/>
          </a:xfrm>
          <a:prstGeom prst="ellipse">
            <a:avLst/>
          </a:prstGeom>
          <a:solidFill>
            <a:srgbClr val="3D7EFF"/>
          </a:solidFill>
          <a:ln w="12700">
            <a:solidFill>
              <a:srgbClr val="3D7E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" name="Text 10"/>
          <p:cNvSpPr/>
          <p:nvPr/>
        </p:nvSpPr>
        <p:spPr>
          <a:xfrm>
            <a:off x="3255264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218688" y="33101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payments across currencies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956048" y="2468880"/>
            <a:ext cx="2377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A7795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157216" y="2468880"/>
            <a:ext cx="1993392" cy="1691640"/>
          </a:xfrm>
          <a:prstGeom prst="roundRect">
            <a:avLst>
              <a:gd name="adj" fmla="val 4324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" name="Shape 14"/>
          <p:cNvSpPr/>
          <p:nvPr/>
        </p:nvSpPr>
        <p:spPr>
          <a:xfrm>
            <a:off x="5413248" y="2724912"/>
            <a:ext cx="457200" cy="457200"/>
          </a:xfrm>
          <a:prstGeom prst="ellipse">
            <a:avLst/>
          </a:prstGeom>
          <a:solidFill>
            <a:srgbClr val="3D7EFF"/>
          </a:solidFill>
          <a:ln w="12700">
            <a:solidFill>
              <a:srgbClr val="3D7E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" name="Text 15"/>
          <p:cNvSpPr/>
          <p:nvPr/>
        </p:nvSpPr>
        <p:spPr>
          <a:xfrm>
            <a:off x="5413248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376672" y="33101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fraud &amp; anomalies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114032" y="2468880"/>
            <a:ext cx="2377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A7795"/>
                </a:solidFill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15200" y="2468880"/>
            <a:ext cx="1993392" cy="1691640"/>
          </a:xfrm>
          <a:prstGeom prst="roundRect">
            <a:avLst>
              <a:gd name="adj" fmla="val 4324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" name="Shape 19"/>
          <p:cNvSpPr/>
          <p:nvPr/>
        </p:nvSpPr>
        <p:spPr>
          <a:xfrm>
            <a:off x="7571232" y="2724912"/>
            <a:ext cx="457200" cy="457200"/>
          </a:xfrm>
          <a:prstGeom prst="ellipse">
            <a:avLst/>
          </a:prstGeom>
          <a:solidFill>
            <a:srgbClr val="3D7EFF"/>
          </a:solidFill>
          <a:ln w="12700">
            <a:solidFill>
              <a:srgbClr val="3D7E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" name="Text 20"/>
          <p:cNvSpPr/>
          <p:nvPr/>
        </p:nvSpPr>
        <p:spPr>
          <a:xfrm>
            <a:off x="7571232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534656" y="33101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every discrepancy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272016" y="2468880"/>
            <a:ext cx="23774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A7795"/>
                </a:solidFill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473184" y="2468880"/>
            <a:ext cx="1993392" cy="1691640"/>
          </a:xfrm>
          <a:prstGeom prst="roundRect">
            <a:avLst>
              <a:gd name="adj" fmla="val 4324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6" name="Shape 24"/>
          <p:cNvSpPr/>
          <p:nvPr/>
        </p:nvSpPr>
        <p:spPr>
          <a:xfrm>
            <a:off x="9729216" y="2724912"/>
            <a:ext cx="457200" cy="457200"/>
          </a:xfrm>
          <a:prstGeom prst="ellipse">
            <a:avLst/>
          </a:prstGeom>
          <a:solidFill>
            <a:srgbClr val="3D7EFF"/>
          </a:solidFill>
          <a:ln w="12700">
            <a:solidFill>
              <a:srgbClr val="3D7E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7" name="Text 25"/>
          <p:cNvSpPr/>
          <p:nvPr/>
        </p:nvSpPr>
        <p:spPr>
          <a:xfrm>
            <a:off x="9729216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692640" y="33101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audit-ready reports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41248" y="4526280"/>
            <a:ext cx="10479024" cy="1371600"/>
          </a:xfrm>
          <a:prstGeom prst="roundRect">
            <a:avLst>
              <a:gd name="adj" fmla="val 5333"/>
            </a:avLst>
          </a:prstGeom>
          <a:solidFill>
            <a:srgbClr val="16223C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0" name="Text 28"/>
          <p:cNvSpPr/>
          <p:nvPr/>
        </p:nvSpPr>
        <p:spPr>
          <a:xfrm>
            <a:off x="11430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F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PRINCIPLE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143000" y="502920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matching is deterministic, auditable code. </a:t>
            </a:r>
            <a:r>
              <a:rPr lang="en-US" sz="150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only explains and advises — it never decides the numbers. An analyst, not a calculator.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143000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B9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CAPABILITIES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6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Seven capabilities, one pipeline.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41248" y="1874520"/>
            <a:ext cx="3419856" cy="1371600"/>
          </a:xfrm>
          <a:prstGeom prst="roundRect">
            <a:avLst>
              <a:gd name="adj" fmla="val 5333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" name="Shape 3"/>
          <p:cNvSpPr/>
          <p:nvPr/>
        </p:nvSpPr>
        <p:spPr>
          <a:xfrm>
            <a:off x="1078992" y="211226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5B95FF">
              <a:alpha val="22000"/>
            </a:srgbClr>
          </a:solidFill>
          <a:ln w="12700">
            <a:solidFill>
              <a:srgbClr val="5B95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Shape 4"/>
          <p:cNvSpPr/>
          <p:nvPr/>
        </p:nvSpPr>
        <p:spPr>
          <a:xfrm>
            <a:off x="1170432" y="2203704"/>
            <a:ext cx="128016" cy="128016"/>
          </a:xfrm>
          <a:prstGeom prst="ellipse">
            <a:avLst/>
          </a:prstGeom>
          <a:solidFill>
            <a:srgbClr val="5B95FF"/>
          </a:solidFill>
          <a:ln w="12700">
            <a:solidFill>
              <a:srgbClr val="5B95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" name="Text 5"/>
          <p:cNvSpPr/>
          <p:nvPr/>
        </p:nvSpPr>
        <p:spPr>
          <a:xfrm>
            <a:off x="1517904" y="2075688"/>
            <a:ext cx="2551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Document Upload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078992" y="2532888"/>
            <a:ext cx="2962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Invoices and bank statements as CSV, Excel or digital PDF.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70832" y="1874520"/>
            <a:ext cx="3419856" cy="1371600"/>
          </a:xfrm>
          <a:prstGeom prst="roundRect">
            <a:avLst>
              <a:gd name="adj" fmla="val 5333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" name="Shape 8"/>
          <p:cNvSpPr/>
          <p:nvPr/>
        </p:nvSpPr>
        <p:spPr>
          <a:xfrm>
            <a:off x="4608576" y="211226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5B95FF">
              <a:alpha val="22000"/>
            </a:srgbClr>
          </a:solidFill>
          <a:ln w="12700">
            <a:solidFill>
              <a:srgbClr val="5B95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" name="Shape 9"/>
          <p:cNvSpPr/>
          <p:nvPr/>
        </p:nvSpPr>
        <p:spPr>
          <a:xfrm>
            <a:off x="4700016" y="2203704"/>
            <a:ext cx="128016" cy="128016"/>
          </a:xfrm>
          <a:prstGeom prst="ellipse">
            <a:avLst/>
          </a:prstGeom>
          <a:solidFill>
            <a:srgbClr val="5B95FF"/>
          </a:solidFill>
          <a:ln w="12700">
            <a:solidFill>
              <a:srgbClr val="5B95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" name="Text 10"/>
          <p:cNvSpPr/>
          <p:nvPr/>
        </p:nvSpPr>
        <p:spPr>
          <a:xfrm>
            <a:off x="5047488" y="2075688"/>
            <a:ext cx="2551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Data Extraction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608576" y="2532888"/>
            <a:ext cx="2962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Pulls invoice no., amount, currency, vendor, reference, date.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00416" y="1874520"/>
            <a:ext cx="3419856" cy="1371600"/>
          </a:xfrm>
          <a:prstGeom prst="roundRect">
            <a:avLst>
              <a:gd name="adj" fmla="val 5333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" name="Shape 13"/>
          <p:cNvSpPr/>
          <p:nvPr/>
        </p:nvSpPr>
        <p:spPr>
          <a:xfrm>
            <a:off x="8138160" y="211226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5C98A">
              <a:alpha val="22000"/>
            </a:srgbClr>
          </a:solidFill>
          <a:ln w="12700">
            <a:solidFill>
              <a:srgbClr val="35C98A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" name="Shape 14"/>
          <p:cNvSpPr/>
          <p:nvPr/>
        </p:nvSpPr>
        <p:spPr>
          <a:xfrm>
            <a:off x="8229600" y="2203704"/>
            <a:ext cx="128016" cy="128016"/>
          </a:xfrm>
          <a:prstGeom prst="ellipse">
            <a:avLst/>
          </a:prstGeom>
          <a:solidFill>
            <a:srgbClr val="35C98A"/>
          </a:solidFill>
          <a:ln w="12700">
            <a:solidFill>
              <a:srgbClr val="35C98A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" name="Text 15"/>
          <p:cNvSpPr/>
          <p:nvPr/>
        </p:nvSpPr>
        <p:spPr>
          <a:xfrm>
            <a:off x="8577072" y="2075688"/>
            <a:ext cx="2551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Engine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138160" y="2532888"/>
            <a:ext cx="2962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Classifies matched, partial, suspicious and unmatched.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41248" y="3355848"/>
            <a:ext cx="3419856" cy="1371600"/>
          </a:xfrm>
          <a:prstGeom prst="roundRect">
            <a:avLst>
              <a:gd name="adj" fmla="val 5333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" name="Shape 18"/>
          <p:cNvSpPr/>
          <p:nvPr/>
        </p:nvSpPr>
        <p:spPr>
          <a:xfrm>
            <a:off x="1078992" y="359359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4FD0E0">
              <a:alpha val="22000"/>
            </a:srgbClr>
          </a:solidFill>
          <a:ln w="12700">
            <a:solidFill>
              <a:srgbClr val="4FD0E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" name="Shape 19"/>
          <p:cNvSpPr/>
          <p:nvPr/>
        </p:nvSpPr>
        <p:spPr>
          <a:xfrm>
            <a:off x="1170432" y="3685032"/>
            <a:ext cx="128016" cy="128016"/>
          </a:xfrm>
          <a:prstGeom prst="ellipse">
            <a:avLst/>
          </a:prstGeom>
          <a:solidFill>
            <a:srgbClr val="4FD0E0"/>
          </a:solidFill>
          <a:ln w="12700">
            <a:solidFill>
              <a:srgbClr val="4FD0E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" name="Text 20"/>
          <p:cNvSpPr/>
          <p:nvPr/>
        </p:nvSpPr>
        <p:spPr>
          <a:xfrm>
            <a:off x="1517904" y="3557016"/>
            <a:ext cx="2551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Reasoning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078992" y="4014216"/>
            <a:ext cx="2962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Plain-English explanation of every mismatch and decision.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70832" y="3355848"/>
            <a:ext cx="3419856" cy="1371600"/>
          </a:xfrm>
          <a:prstGeom prst="roundRect">
            <a:avLst>
              <a:gd name="adj" fmla="val 5333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5" name="Shape 23"/>
          <p:cNvSpPr/>
          <p:nvPr/>
        </p:nvSpPr>
        <p:spPr>
          <a:xfrm>
            <a:off x="4608576" y="359359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E5823C">
              <a:alpha val="22000"/>
            </a:srgbClr>
          </a:solidFill>
          <a:ln w="12700">
            <a:solidFill>
              <a:srgbClr val="E5823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6" name="Shape 24"/>
          <p:cNvSpPr/>
          <p:nvPr/>
        </p:nvSpPr>
        <p:spPr>
          <a:xfrm>
            <a:off x="4700016" y="3685032"/>
            <a:ext cx="128016" cy="128016"/>
          </a:xfrm>
          <a:prstGeom prst="ellipse">
            <a:avLst/>
          </a:prstGeom>
          <a:solidFill>
            <a:srgbClr val="E5823C"/>
          </a:solidFill>
          <a:ln w="12700">
            <a:solidFill>
              <a:srgbClr val="E5823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7" name="Text 25"/>
          <p:cNvSpPr/>
          <p:nvPr/>
        </p:nvSpPr>
        <p:spPr>
          <a:xfrm>
            <a:off x="5047488" y="3557016"/>
            <a:ext cx="2551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&amp; Risk Detection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608576" y="4014216"/>
            <a:ext cx="2962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duplicates, abnormal amounts, unknown vendors, patterns.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900416" y="3355848"/>
            <a:ext cx="3419856" cy="1371600"/>
          </a:xfrm>
          <a:prstGeom prst="roundRect">
            <a:avLst>
              <a:gd name="adj" fmla="val 5333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0" name="Shape 28"/>
          <p:cNvSpPr/>
          <p:nvPr/>
        </p:nvSpPr>
        <p:spPr>
          <a:xfrm>
            <a:off x="8138160" y="359359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5B95FF">
              <a:alpha val="22000"/>
            </a:srgbClr>
          </a:solidFill>
          <a:ln w="12700">
            <a:solidFill>
              <a:srgbClr val="5B95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1" name="Shape 29"/>
          <p:cNvSpPr/>
          <p:nvPr/>
        </p:nvSpPr>
        <p:spPr>
          <a:xfrm>
            <a:off x="8229600" y="3685032"/>
            <a:ext cx="128016" cy="128016"/>
          </a:xfrm>
          <a:prstGeom prst="ellipse">
            <a:avLst/>
          </a:prstGeom>
          <a:solidFill>
            <a:srgbClr val="5B95FF"/>
          </a:solidFill>
          <a:ln w="12700">
            <a:solidFill>
              <a:srgbClr val="5B95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2" name="Text 30"/>
          <p:cNvSpPr/>
          <p:nvPr/>
        </p:nvSpPr>
        <p:spPr>
          <a:xfrm>
            <a:off x="8577072" y="3557016"/>
            <a:ext cx="2551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8138160" y="4014216"/>
            <a:ext cx="2962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KPIs, confidence scores, fraud alerts and analytics charts.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41248" y="4882896"/>
            <a:ext cx="10479024" cy="960120"/>
          </a:xfrm>
          <a:prstGeom prst="roundRect">
            <a:avLst>
              <a:gd name="adj" fmla="val 7619"/>
            </a:avLst>
          </a:prstGeom>
          <a:solidFill>
            <a:srgbClr val="16223C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5" name="Shape 33"/>
          <p:cNvSpPr/>
          <p:nvPr/>
        </p:nvSpPr>
        <p:spPr>
          <a:xfrm>
            <a:off x="1097280" y="5138928"/>
            <a:ext cx="457200" cy="457200"/>
          </a:xfrm>
          <a:prstGeom prst="ellipse">
            <a:avLst/>
          </a:prstGeom>
          <a:solidFill>
            <a:srgbClr val="35C98A"/>
          </a:solidFill>
          <a:ln w="12700">
            <a:solidFill>
              <a:srgbClr val="35C98A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6" name="Text 34"/>
          <p:cNvSpPr/>
          <p:nvPr/>
        </p:nvSpPr>
        <p:spPr>
          <a:xfrm>
            <a:off x="1097280" y="5138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783080" y="4882896"/>
            <a:ext cx="9326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Audit Report Generation   </a:t>
            </a:r>
            <a:r>
              <a:rPr lang="en-US" sz="130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produces a professional PDF — executive summary, anomaly log and full audit trail.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143000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B9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EXPERIENCE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6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guided analysis workflow.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41248" y="15544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AI is built as a clear step-by-step process — no training needed.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41248" y="2331720"/>
            <a:ext cx="1993392" cy="2286000"/>
          </a:xfrm>
          <a:prstGeom prst="roundRect">
            <a:avLst>
              <a:gd name="adj" fmla="val 3670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Shape 4"/>
          <p:cNvSpPr/>
          <p:nvPr/>
        </p:nvSpPr>
        <p:spPr>
          <a:xfrm>
            <a:off x="841248" y="2331720"/>
            <a:ext cx="1993392" cy="64008"/>
          </a:xfrm>
          <a:prstGeom prst="rect">
            <a:avLst/>
          </a:prstGeom>
          <a:solidFill>
            <a:srgbClr val="5B95FF"/>
          </a:solidFill>
          <a:ln w="12700">
            <a:solidFill>
              <a:srgbClr val="5B95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" name="Text 5"/>
          <p:cNvSpPr/>
          <p:nvPr/>
        </p:nvSpPr>
        <p:spPr>
          <a:xfrm>
            <a:off x="1078992" y="2569464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9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78992" y="2898648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3F6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78992" y="3383280"/>
            <a:ext cx="15361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workspace and begin a new analysis.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999232" y="2331720"/>
            <a:ext cx="1993392" cy="2286000"/>
          </a:xfrm>
          <a:prstGeom prst="roundRect">
            <a:avLst>
              <a:gd name="adj" fmla="val 3670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" name="Shape 9"/>
          <p:cNvSpPr/>
          <p:nvPr/>
        </p:nvSpPr>
        <p:spPr>
          <a:xfrm>
            <a:off x="2999232" y="2331720"/>
            <a:ext cx="1993392" cy="64008"/>
          </a:xfrm>
          <a:prstGeom prst="rect">
            <a:avLst/>
          </a:prstGeom>
          <a:solidFill>
            <a:srgbClr val="5B95FF"/>
          </a:solidFill>
          <a:ln w="12700">
            <a:solidFill>
              <a:srgbClr val="5B95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" name="Text 10"/>
          <p:cNvSpPr/>
          <p:nvPr/>
        </p:nvSpPr>
        <p:spPr>
          <a:xfrm>
            <a:off x="3236976" y="2569464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9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36976" y="2898648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3F6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Upload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236976" y="3383280"/>
            <a:ext cx="15361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an invoices file and a bank statement.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157216" y="2331720"/>
            <a:ext cx="1993392" cy="2286000"/>
          </a:xfrm>
          <a:prstGeom prst="roundRect">
            <a:avLst>
              <a:gd name="adj" fmla="val 3670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" name="Shape 14"/>
          <p:cNvSpPr/>
          <p:nvPr/>
        </p:nvSpPr>
        <p:spPr>
          <a:xfrm>
            <a:off x="5157216" y="2331720"/>
            <a:ext cx="1993392" cy="64008"/>
          </a:xfrm>
          <a:prstGeom prst="rect">
            <a:avLst/>
          </a:prstGeom>
          <a:solidFill>
            <a:srgbClr val="4FD0E0"/>
          </a:solidFill>
          <a:ln w="12700">
            <a:solidFill>
              <a:srgbClr val="4FD0E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" name="Text 15"/>
          <p:cNvSpPr/>
          <p:nvPr/>
        </p:nvSpPr>
        <p:spPr>
          <a:xfrm>
            <a:off x="5394960" y="2569464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94960" y="2898648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3F6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94960" y="3383280"/>
            <a:ext cx="15361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reconciles and scans for risk instantly.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315200" y="2331720"/>
            <a:ext cx="1993392" cy="2286000"/>
          </a:xfrm>
          <a:prstGeom prst="roundRect">
            <a:avLst>
              <a:gd name="adj" fmla="val 3670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" name="Shape 19"/>
          <p:cNvSpPr/>
          <p:nvPr/>
        </p:nvSpPr>
        <p:spPr>
          <a:xfrm>
            <a:off x="7315200" y="2331720"/>
            <a:ext cx="1993392" cy="64008"/>
          </a:xfrm>
          <a:prstGeom prst="rect">
            <a:avLst/>
          </a:prstGeom>
          <a:solidFill>
            <a:srgbClr val="35C98A"/>
          </a:solidFill>
          <a:ln w="12700">
            <a:solidFill>
              <a:srgbClr val="35C98A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" name="Text 20"/>
          <p:cNvSpPr/>
          <p:nvPr/>
        </p:nvSpPr>
        <p:spPr>
          <a:xfrm>
            <a:off x="7552944" y="2569464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5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552944" y="2898648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3F6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552944" y="3383280"/>
            <a:ext cx="15361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Overview, reconciliation, risk and audit — all in tabs.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473184" y="2331720"/>
            <a:ext cx="1993392" cy="2286000"/>
          </a:xfrm>
          <a:prstGeom prst="roundRect">
            <a:avLst>
              <a:gd name="adj" fmla="val 3670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6" name="Shape 24"/>
          <p:cNvSpPr/>
          <p:nvPr/>
        </p:nvSpPr>
        <p:spPr>
          <a:xfrm>
            <a:off x="9473184" y="2331720"/>
            <a:ext cx="1993392" cy="64008"/>
          </a:xfrm>
          <a:prstGeom prst="rect">
            <a:avLst/>
          </a:prstGeom>
          <a:solidFill>
            <a:srgbClr val="5B95FF"/>
          </a:solidFill>
          <a:ln w="12700">
            <a:solidFill>
              <a:srgbClr val="5B95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7" name="Text 25"/>
          <p:cNvSpPr/>
          <p:nvPr/>
        </p:nvSpPr>
        <p:spPr>
          <a:xfrm>
            <a:off x="9710928" y="2569464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9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710928" y="2898648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3F6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History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710928" y="3383280"/>
            <a:ext cx="15361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 is saved and can be reopened any time.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41248" y="4983480"/>
            <a:ext cx="10479024" cy="868680"/>
          </a:xfrm>
          <a:prstGeom prst="roundRect">
            <a:avLst>
              <a:gd name="adj" fmla="val 8421"/>
            </a:avLst>
          </a:prstGeom>
          <a:solidFill>
            <a:srgbClr val="16223C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1" name="Text 29"/>
          <p:cNvSpPr/>
          <p:nvPr/>
        </p:nvSpPr>
        <p:spPr>
          <a:xfrm>
            <a:off x="1143000" y="498348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4F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scope:  </a:t>
            </a:r>
            <a:r>
              <a:rPr lang="en-US" sz="125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history is session-based today; user accounts and persistent storage are the next milestone on the roadmap.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143000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B9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LAYER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6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AI works — powered by Chutes AI.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41248" y="1536192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AI uses a large language model served by Chutes AI. Crucially, the AI never touches the math — it interprets results the engine has already computed.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41248" y="2286000"/>
            <a:ext cx="5166360" cy="2286000"/>
          </a:xfrm>
          <a:prstGeom prst="roundRect">
            <a:avLst>
              <a:gd name="adj" fmla="val 3200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Text 4"/>
          <p:cNvSpPr/>
          <p:nvPr/>
        </p:nvSpPr>
        <p:spPr>
          <a:xfrm>
            <a:off x="1097280" y="2487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5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AI DOES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97280" y="2852928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5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85292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why a transaction was flagged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3255264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5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17320" y="32552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the step-by-step reasoning chain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5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36576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Assesses risk and recommends an action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4059936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5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405993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questions in the chat copilot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53912" y="2286000"/>
            <a:ext cx="5166360" cy="2286000"/>
          </a:xfrm>
          <a:prstGeom prst="roundRect">
            <a:avLst>
              <a:gd name="adj" fmla="val 3200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" name="Text 14"/>
          <p:cNvSpPr/>
          <p:nvPr/>
        </p:nvSpPr>
        <p:spPr>
          <a:xfrm>
            <a:off x="6409944" y="2487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8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AI NEVER DOES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9944" y="2852928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729984" y="285292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whether two records match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9944" y="3255264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29984" y="32552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amounts, deltas or totals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9944" y="3657600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29984" y="36576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 reconciliation status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9944" y="4059936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729984" y="405993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any number in the audit trail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41248" y="4754880"/>
            <a:ext cx="10479024" cy="1097280"/>
          </a:xfrm>
          <a:prstGeom prst="roundRect">
            <a:avLst>
              <a:gd name="adj" fmla="val 6667"/>
            </a:avLst>
          </a:prstGeom>
          <a:solidFill>
            <a:srgbClr val="16223C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6" name="Text 24"/>
          <p:cNvSpPr/>
          <p:nvPr/>
        </p:nvSpPr>
        <p:spPr>
          <a:xfrm>
            <a:off x="1143000" y="4937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F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FAIL SAFE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143000" y="519379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Chutes AI is slow or unavailable, every AI feature falls back to a deterministic, rule-based explanation. The system — and the demo — never breaks.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43000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B9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REASONING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6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flag, explained.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41248" y="15544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Explain on any transaction and Treasury AI opens a full structured reasoning breakdown.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41248" y="2240280"/>
            <a:ext cx="10479024" cy="640080"/>
          </a:xfrm>
          <a:prstGeom prst="roundRect">
            <a:avLst>
              <a:gd name="adj" fmla="val 11429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Shape 4"/>
          <p:cNvSpPr/>
          <p:nvPr/>
        </p:nvSpPr>
        <p:spPr>
          <a:xfrm>
            <a:off x="1078992" y="2404872"/>
            <a:ext cx="310896" cy="310896"/>
          </a:xfrm>
          <a:prstGeom prst="ellipse">
            <a:avLst/>
          </a:prstGeom>
          <a:solidFill>
            <a:srgbClr val="3D7EFF"/>
          </a:solidFill>
          <a:ln w="12700">
            <a:solidFill>
              <a:srgbClr val="3D7E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" name="Text 5"/>
          <p:cNvSpPr/>
          <p:nvPr/>
        </p:nvSpPr>
        <p:spPr>
          <a:xfrm>
            <a:off x="1078992" y="2404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91056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was flagged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26280" y="22402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in plain language — what triggered this status.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41248" y="2990088"/>
            <a:ext cx="10479024" cy="640080"/>
          </a:xfrm>
          <a:prstGeom prst="roundRect">
            <a:avLst>
              <a:gd name="adj" fmla="val 11429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" name="Shape 9"/>
          <p:cNvSpPr/>
          <p:nvPr/>
        </p:nvSpPr>
        <p:spPr>
          <a:xfrm>
            <a:off x="1078992" y="3154680"/>
            <a:ext cx="310896" cy="310896"/>
          </a:xfrm>
          <a:prstGeom prst="ellipse">
            <a:avLst/>
          </a:prstGeom>
          <a:solidFill>
            <a:srgbClr val="3D7EFF"/>
          </a:solidFill>
          <a:ln w="12700">
            <a:solidFill>
              <a:srgbClr val="3D7E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" name="Text 10"/>
          <p:cNvSpPr/>
          <p:nvPr/>
        </p:nvSpPr>
        <p:spPr>
          <a:xfrm>
            <a:off x="1078992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91056" y="299008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chain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26280" y="2990088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numbered logic steps the system followed to reach it.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41248" y="3739896"/>
            <a:ext cx="10479024" cy="640080"/>
          </a:xfrm>
          <a:prstGeom prst="roundRect">
            <a:avLst>
              <a:gd name="adj" fmla="val 11429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" name="Shape 14"/>
          <p:cNvSpPr/>
          <p:nvPr/>
        </p:nvSpPr>
        <p:spPr>
          <a:xfrm>
            <a:off x="1078992" y="3904488"/>
            <a:ext cx="310896" cy="310896"/>
          </a:xfrm>
          <a:prstGeom prst="ellipse">
            <a:avLst/>
          </a:prstGeom>
          <a:solidFill>
            <a:srgbClr val="3D7EFF"/>
          </a:solidFill>
          <a:ln w="12700">
            <a:solidFill>
              <a:srgbClr val="3D7E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" name="Text 15"/>
          <p:cNvSpPr/>
          <p:nvPr/>
        </p:nvSpPr>
        <p:spPr>
          <a:xfrm>
            <a:off x="1078992" y="3904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591056" y="373989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analysis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3739896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financial or fraud exposure this transaction carries.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41248" y="4489704"/>
            <a:ext cx="10479024" cy="640080"/>
          </a:xfrm>
          <a:prstGeom prst="roundRect">
            <a:avLst>
              <a:gd name="adj" fmla="val 11429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" name="Shape 19"/>
          <p:cNvSpPr/>
          <p:nvPr/>
        </p:nvSpPr>
        <p:spPr>
          <a:xfrm>
            <a:off x="1078992" y="4654296"/>
            <a:ext cx="310896" cy="310896"/>
          </a:xfrm>
          <a:prstGeom prst="ellipse">
            <a:avLst/>
          </a:prstGeom>
          <a:solidFill>
            <a:srgbClr val="3D7EFF"/>
          </a:solidFill>
          <a:ln w="12700">
            <a:solidFill>
              <a:srgbClr val="3D7E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" name="Text 20"/>
          <p:cNvSpPr/>
          <p:nvPr/>
        </p:nvSpPr>
        <p:spPr>
          <a:xfrm>
            <a:off x="1078992" y="46542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591056" y="4489704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action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26280" y="4489704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concrete next step a treasurer should take.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41248" y="5239512"/>
            <a:ext cx="10479024" cy="640080"/>
          </a:xfrm>
          <a:prstGeom prst="roundRect">
            <a:avLst>
              <a:gd name="adj" fmla="val 11429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6" name="Shape 24"/>
          <p:cNvSpPr/>
          <p:nvPr/>
        </p:nvSpPr>
        <p:spPr>
          <a:xfrm>
            <a:off x="1078992" y="5404104"/>
            <a:ext cx="310896" cy="310896"/>
          </a:xfrm>
          <a:prstGeom prst="ellipse">
            <a:avLst/>
          </a:prstGeom>
          <a:solidFill>
            <a:srgbClr val="3D7EFF"/>
          </a:solidFill>
          <a:ln w="12700">
            <a:solidFill>
              <a:srgbClr val="3D7E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7" name="Text 25"/>
          <p:cNvSpPr/>
          <p:nvPr/>
        </p:nvSpPr>
        <p:spPr>
          <a:xfrm>
            <a:off x="1078992" y="5404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591056" y="523951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breakdown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26280" y="5239512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strong the evidence is — shown as a calibrated score.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143000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B9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COPILOT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6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Ask Treasury AI anything.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41248" y="15544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built-in conversational assistant that knows the data of the scan you are looking at — answers are grounded in real numbers, not generic advice.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41248" y="2331720"/>
            <a:ext cx="5029200" cy="3566160"/>
          </a:xfrm>
          <a:prstGeom prst="roundRect">
            <a:avLst>
              <a:gd name="adj" fmla="val 2051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Text 4"/>
          <p:cNvSpPr/>
          <p:nvPr/>
        </p:nvSpPr>
        <p:spPr>
          <a:xfrm>
            <a:off x="1097280" y="2560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5B9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AI COPILOT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86000" y="297180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3D7EFF"/>
          </a:solidFill>
          <a:ln w="12700">
            <a:solidFill>
              <a:srgbClr val="3D7E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" name="Text 6"/>
          <p:cNvSpPr/>
          <p:nvPr/>
        </p:nvSpPr>
        <p:spPr>
          <a:xfrm>
            <a:off x="2286000" y="29718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INV-1604 risky?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97280" y="3611880"/>
            <a:ext cx="4206240" cy="1691640"/>
          </a:xfrm>
          <a:prstGeom prst="roundRect">
            <a:avLst>
              <a:gd name="adj" fmla="val 5405"/>
            </a:avLst>
          </a:prstGeom>
          <a:solidFill>
            <a:srgbClr val="16223C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" name="Text 8"/>
          <p:cNvSpPr/>
          <p:nvPr/>
        </p:nvSpPr>
        <p:spPr>
          <a:xfrm>
            <a:off x="1298448" y="3767328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INV-1604 is a 95,000 USD payment to Blackstone Holdings with no reference. The amount is far above the batch average and the missing reference weakens the audit trail — recommend holding payment for review.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263640" y="2514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F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CAN ASK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63640" y="2926080"/>
            <a:ext cx="5029200" cy="566928"/>
          </a:xfrm>
          <a:prstGeom prst="roundRect">
            <a:avLst>
              <a:gd name="adj" fmla="val 12903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" name="Shape 11"/>
          <p:cNvSpPr/>
          <p:nvPr/>
        </p:nvSpPr>
        <p:spPr>
          <a:xfrm>
            <a:off x="6473952" y="3099816"/>
            <a:ext cx="219456" cy="219456"/>
          </a:xfrm>
          <a:prstGeom prst="ellipse">
            <a:avLst/>
          </a:prstGeom>
          <a:solidFill>
            <a:srgbClr val="5B95FF"/>
          </a:solidFill>
          <a:ln w="12700">
            <a:solidFill>
              <a:srgbClr val="5B95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" name="Text 12"/>
          <p:cNvSpPr/>
          <p:nvPr/>
        </p:nvSpPr>
        <p:spPr>
          <a:xfrm>
            <a:off x="6858000" y="29260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a specific invoice flagged?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63640" y="3639312"/>
            <a:ext cx="5029200" cy="566928"/>
          </a:xfrm>
          <a:prstGeom prst="roundRect">
            <a:avLst>
              <a:gd name="adj" fmla="val 12903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" name="Shape 14"/>
          <p:cNvSpPr/>
          <p:nvPr/>
        </p:nvSpPr>
        <p:spPr>
          <a:xfrm>
            <a:off x="6473952" y="3813048"/>
            <a:ext cx="219456" cy="219456"/>
          </a:xfrm>
          <a:prstGeom prst="ellipse">
            <a:avLst/>
          </a:prstGeom>
          <a:solidFill>
            <a:srgbClr val="5B95FF"/>
          </a:solidFill>
          <a:ln w="12700">
            <a:solidFill>
              <a:srgbClr val="5B95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" name="Text 15"/>
          <p:cNvSpPr/>
          <p:nvPr/>
        </p:nvSpPr>
        <p:spPr>
          <a:xfrm>
            <a:off x="6858000" y="3639312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invoices matched this scan?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4352544"/>
            <a:ext cx="5029200" cy="566928"/>
          </a:xfrm>
          <a:prstGeom prst="roundRect">
            <a:avLst>
              <a:gd name="adj" fmla="val 12903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" name="Shape 17"/>
          <p:cNvSpPr/>
          <p:nvPr/>
        </p:nvSpPr>
        <p:spPr>
          <a:xfrm>
            <a:off x="6473952" y="4526280"/>
            <a:ext cx="219456" cy="219456"/>
          </a:xfrm>
          <a:prstGeom prst="ellipse">
            <a:avLst/>
          </a:prstGeom>
          <a:solidFill>
            <a:srgbClr val="5B95FF"/>
          </a:solidFill>
          <a:ln w="12700">
            <a:solidFill>
              <a:srgbClr val="5B95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" name="Text 18"/>
          <p:cNvSpPr/>
          <p:nvPr/>
        </p:nvSpPr>
        <p:spPr>
          <a:xfrm>
            <a:off x="6858000" y="4352544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invoices are still unmatched?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63640" y="5065776"/>
            <a:ext cx="5029200" cy="566928"/>
          </a:xfrm>
          <a:prstGeom prst="roundRect">
            <a:avLst>
              <a:gd name="adj" fmla="val 12903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" name="Shape 20"/>
          <p:cNvSpPr/>
          <p:nvPr/>
        </p:nvSpPr>
        <p:spPr>
          <a:xfrm>
            <a:off x="6473952" y="5239512"/>
            <a:ext cx="219456" cy="219456"/>
          </a:xfrm>
          <a:prstGeom prst="ellipse">
            <a:avLst/>
          </a:prstGeom>
          <a:solidFill>
            <a:srgbClr val="5B95FF"/>
          </a:solidFill>
          <a:ln w="12700">
            <a:solidFill>
              <a:srgbClr val="5B95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" name="Text 21"/>
          <p:cNvSpPr/>
          <p:nvPr/>
        </p:nvSpPr>
        <p:spPr>
          <a:xfrm>
            <a:off x="6858000" y="5065776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the risk alerts for me.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41248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back to a deterministic answer if the AI is offline — the demo never breaks.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43000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B9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 &amp; REPORTING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3F6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Catches risk, proves the trail.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41248" y="1828800"/>
            <a:ext cx="5120640" cy="4023360"/>
          </a:xfrm>
          <a:prstGeom prst="roundRect">
            <a:avLst>
              <a:gd name="adj" fmla="val 1818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" name="Text 3"/>
          <p:cNvSpPr/>
          <p:nvPr/>
        </p:nvSpPr>
        <p:spPr>
          <a:xfrm>
            <a:off x="109728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58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FRAUD ENGINE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143000" y="2505456"/>
            <a:ext cx="237744" cy="237744"/>
          </a:xfrm>
          <a:prstGeom prst="ellipse">
            <a:avLst/>
          </a:prstGeom>
          <a:solidFill>
            <a:srgbClr val="E5823C"/>
          </a:solidFill>
          <a:ln w="12700">
            <a:solidFill>
              <a:srgbClr val="E5823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" name="Text 5"/>
          <p:cNvSpPr/>
          <p:nvPr/>
        </p:nvSpPr>
        <p:spPr>
          <a:xfrm>
            <a:off x="1508760" y="2414016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invoices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08760" y="270662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vendor, amount and reference billed twice.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143000" y="3163824"/>
            <a:ext cx="237744" cy="237744"/>
          </a:xfrm>
          <a:prstGeom prst="ellipse">
            <a:avLst/>
          </a:prstGeom>
          <a:solidFill>
            <a:srgbClr val="E5823C"/>
          </a:solidFill>
          <a:ln w="12700">
            <a:solidFill>
              <a:srgbClr val="E5823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" name="Text 8"/>
          <p:cNvSpPr/>
          <p:nvPr/>
        </p:nvSpPr>
        <p:spPr>
          <a:xfrm>
            <a:off x="1508760" y="307238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merchants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508760" y="336499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Outgoing payments with no matching invoice.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43000" y="3822192"/>
            <a:ext cx="237744" cy="237744"/>
          </a:xfrm>
          <a:prstGeom prst="ellipse">
            <a:avLst/>
          </a:prstGeom>
          <a:solidFill>
            <a:srgbClr val="E5823C"/>
          </a:solidFill>
          <a:ln w="12700">
            <a:solidFill>
              <a:srgbClr val="E5823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" name="Text 11"/>
          <p:cNvSpPr/>
          <p:nvPr/>
        </p:nvSpPr>
        <p:spPr>
          <a:xfrm>
            <a:off x="1508760" y="373075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references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08760" y="40233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payments with a weak audit trail.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143000" y="4480560"/>
            <a:ext cx="237744" cy="237744"/>
          </a:xfrm>
          <a:prstGeom prst="ellipse">
            <a:avLst/>
          </a:prstGeom>
          <a:solidFill>
            <a:srgbClr val="E5823C"/>
          </a:solidFill>
          <a:ln w="12700">
            <a:solidFill>
              <a:srgbClr val="E5823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" name="Text 14"/>
          <p:cNvSpPr/>
          <p:nvPr/>
        </p:nvSpPr>
        <p:spPr>
          <a:xfrm>
            <a:off x="1508760" y="438912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amounts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08760" y="468172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outliers far above the batch norm.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143000" y="5138928"/>
            <a:ext cx="237744" cy="237744"/>
          </a:xfrm>
          <a:prstGeom prst="ellipse">
            <a:avLst/>
          </a:prstGeom>
          <a:solidFill>
            <a:srgbClr val="E5823C"/>
          </a:solidFill>
          <a:ln w="12700">
            <a:solidFill>
              <a:srgbClr val="E5823C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" name="Text 17"/>
          <p:cNvSpPr/>
          <p:nvPr/>
        </p:nvSpPr>
        <p:spPr>
          <a:xfrm>
            <a:off x="1508760" y="504748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Suspicious patterns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508760" y="534009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Round-number transfers and vendor anomalies.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99632" y="1828800"/>
            <a:ext cx="5120640" cy="4023360"/>
          </a:xfrm>
          <a:prstGeom prst="roundRect">
            <a:avLst>
              <a:gd name="adj" fmla="val 1818"/>
            </a:avLst>
          </a:prstGeom>
          <a:solidFill>
            <a:srgbClr val="101A30"/>
          </a:solidFill>
          <a:ln w="12700">
            <a:solidFill>
              <a:srgbClr val="24315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" name="Text 20"/>
          <p:cNvSpPr/>
          <p:nvPr/>
        </p:nvSpPr>
        <p:spPr>
          <a:xfrm>
            <a:off x="6455664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5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AUDIT REPORT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55664" y="23774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 exports a professional PDF audit report, ready to hand to an accountant or auditor.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55664" y="3200400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5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784848" y="32004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55664" y="3621024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5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784848" y="362102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reconciliation metrics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55664" y="4041648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5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784848" y="404164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Per-invoice detail with AI notes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55664" y="4462272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5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784848" y="446227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&amp; risk log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455664" y="4882896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5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784848" y="4882896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455664" y="5303520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5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784848" y="530352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2C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disclaimer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1143000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B9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3F6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agent framework.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1143000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A7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D85885-FD88-DC9A-2F2D-5FFF23CCD5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3747" y="1717188"/>
            <a:ext cx="7436898" cy="495793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6400800" cy="6400800"/>
          </a:xfrm>
          <a:prstGeom prst="ellipse">
            <a:avLst/>
          </a:prstGeom>
          <a:solidFill>
            <a:srgbClr val="3D7EFF">
              <a:alpha val="12000"/>
            </a:srgbClr>
          </a:solidFill>
          <a:ln w="12700">
            <a:solidFill>
              <a:srgbClr val="070B1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Shape 1"/>
          <p:cNvSpPr/>
          <p:nvPr/>
        </p:nvSpPr>
        <p:spPr>
          <a:xfrm>
            <a:off x="8686800" y="-2377440"/>
            <a:ext cx="5486400" cy="5486400"/>
          </a:xfrm>
          <a:prstGeom prst="ellipse">
            <a:avLst/>
          </a:prstGeom>
          <a:solidFill>
            <a:srgbClr val="4FD0E0">
              <a:alpha val="10000"/>
            </a:srgbClr>
          </a:solidFill>
          <a:ln w="12700">
            <a:solidFill>
              <a:srgbClr val="070B1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Shape 2"/>
          <p:cNvSpPr/>
          <p:nvPr/>
        </p:nvSpPr>
        <p:spPr>
          <a:xfrm>
            <a:off x="841248" y="1325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D7EFF"/>
          </a:solidFill>
          <a:ln w="12700">
            <a:solidFill>
              <a:srgbClr val="3D7E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" name="Text 3"/>
          <p:cNvSpPr/>
          <p:nvPr/>
        </p:nvSpPr>
        <p:spPr>
          <a:xfrm>
            <a:off x="841248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3F6FC"/>
                </a:solidFill>
              </a:rPr>
              <a:t>◆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1325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3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AI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86384" y="246888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3F6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841248" y="39776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5B95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Reconciliation that explains itself.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841248" y="4892040"/>
            <a:ext cx="1435608" cy="457200"/>
          </a:xfrm>
          <a:prstGeom prst="roundRect">
            <a:avLst>
              <a:gd name="adj" fmla="val 50000"/>
            </a:avLst>
          </a:prstGeom>
          <a:solidFill>
            <a:srgbClr val="101A30"/>
          </a:solidFill>
          <a:ln w="12700">
            <a:solidFill>
              <a:srgbClr val="3D7E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" name="Text 8"/>
          <p:cNvSpPr/>
          <p:nvPr/>
        </p:nvSpPr>
        <p:spPr>
          <a:xfrm>
            <a:off x="841248" y="4892040"/>
            <a:ext cx="143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9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441448" y="4892040"/>
            <a:ext cx="1330452" cy="457200"/>
          </a:xfrm>
          <a:prstGeom prst="roundRect">
            <a:avLst>
              <a:gd name="adj" fmla="val 50000"/>
            </a:avLst>
          </a:prstGeom>
          <a:solidFill>
            <a:srgbClr val="101A30"/>
          </a:solidFill>
          <a:ln w="12700">
            <a:solidFill>
              <a:srgbClr val="3D7E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" name="Text 10"/>
          <p:cNvSpPr/>
          <p:nvPr/>
        </p:nvSpPr>
        <p:spPr>
          <a:xfrm>
            <a:off x="2441448" y="4892040"/>
            <a:ext cx="13304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9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936492" y="4892040"/>
            <a:ext cx="1856232" cy="457200"/>
          </a:xfrm>
          <a:prstGeom prst="roundRect">
            <a:avLst>
              <a:gd name="adj" fmla="val 50000"/>
            </a:avLst>
          </a:prstGeom>
          <a:solidFill>
            <a:srgbClr val="101A30"/>
          </a:solidFill>
          <a:ln w="12700">
            <a:solidFill>
              <a:srgbClr val="3D7E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" name="Text 12"/>
          <p:cNvSpPr/>
          <p:nvPr/>
        </p:nvSpPr>
        <p:spPr>
          <a:xfrm>
            <a:off x="3936492" y="4892040"/>
            <a:ext cx="1856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9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Cross-currency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57316" y="4892040"/>
            <a:ext cx="1540764" cy="457200"/>
          </a:xfrm>
          <a:prstGeom prst="roundRect">
            <a:avLst>
              <a:gd name="adj" fmla="val 50000"/>
            </a:avLst>
          </a:prstGeom>
          <a:solidFill>
            <a:srgbClr val="101A30"/>
          </a:solidFill>
          <a:ln w="12700">
            <a:solidFill>
              <a:srgbClr val="3D7EFF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" name="Text 14"/>
          <p:cNvSpPr/>
          <p:nvPr/>
        </p:nvSpPr>
        <p:spPr>
          <a:xfrm>
            <a:off x="5957316" y="4892040"/>
            <a:ext cx="15407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9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Fraud-aware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960</Words>
  <Application>Microsoft Office PowerPoint</Application>
  <PresentationFormat>Widescreen</PresentationFormat>
  <Paragraphs>189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Treasury AI</dc:title>
  <dc:subject>PptxGenJS Presentation</dc:subject>
  <dc:creator>Treasury AI Team</dc:creator>
  <cp:lastModifiedBy>HASHVEENA KAUR</cp:lastModifiedBy>
  <cp:revision>7</cp:revision>
  <dcterms:created xsi:type="dcterms:W3CDTF">2026-05-25T09:02:10Z</dcterms:created>
  <dcterms:modified xsi:type="dcterms:W3CDTF">2026-05-27T03:54:14Z</dcterms:modified>
</cp:coreProperties>
</file>